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ill Sans Display Ultra-Bold" charset="1" panose="020B0904020104020203"/>
      <p:regular r:id="rId17"/>
    </p:embeddedFont>
    <p:embeddedFont>
      <p:font typeface="Sports World" charset="1" panose="0200050302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4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4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A1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5742" y="445885"/>
            <a:ext cx="13816515" cy="9395230"/>
          </a:xfrm>
          <a:custGeom>
            <a:avLst/>
            <a:gdLst/>
            <a:ahLst/>
            <a:cxnLst/>
            <a:rect r="r" b="b" t="t" l="l"/>
            <a:pathLst>
              <a:path h="9395230" w="13816515">
                <a:moveTo>
                  <a:pt x="0" y="0"/>
                </a:moveTo>
                <a:lnTo>
                  <a:pt x="13816516" y="0"/>
                </a:lnTo>
                <a:lnTo>
                  <a:pt x="13816516" y="9395230"/>
                </a:lnTo>
                <a:lnTo>
                  <a:pt x="0" y="939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2855" y="2398044"/>
            <a:ext cx="5490912" cy="5490912"/>
          </a:xfrm>
          <a:custGeom>
            <a:avLst/>
            <a:gdLst/>
            <a:ahLst/>
            <a:cxnLst/>
            <a:rect r="r" b="b" t="t" l="l"/>
            <a:pathLst>
              <a:path h="5490912" w="5490912">
                <a:moveTo>
                  <a:pt x="0" y="0"/>
                </a:moveTo>
                <a:lnTo>
                  <a:pt x="5490911" y="0"/>
                </a:lnTo>
                <a:lnTo>
                  <a:pt x="5490911" y="5490912"/>
                </a:lnTo>
                <a:lnTo>
                  <a:pt x="0" y="5490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23544" y="2398044"/>
            <a:ext cx="5490912" cy="5490912"/>
          </a:xfrm>
          <a:custGeom>
            <a:avLst/>
            <a:gdLst/>
            <a:ahLst/>
            <a:cxnLst/>
            <a:rect r="r" b="b" t="t" l="l"/>
            <a:pathLst>
              <a:path h="5490912" w="5490912">
                <a:moveTo>
                  <a:pt x="0" y="0"/>
                </a:moveTo>
                <a:lnTo>
                  <a:pt x="5490912" y="0"/>
                </a:lnTo>
                <a:lnTo>
                  <a:pt x="5490912" y="5490912"/>
                </a:lnTo>
                <a:lnTo>
                  <a:pt x="0" y="5490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36153" y="3012912"/>
            <a:ext cx="11852178" cy="340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7"/>
              </a:lnSpc>
            </a:pPr>
            <a:r>
              <a:rPr lang="en-US" b="true" sz="4997">
                <a:solidFill>
                  <a:srgbClr val="FAE04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PLATAFORMA DE INTELIGENCIA DEPORTIVA BASADA EN BUSINESS INTELLIGENCE Y BIG DATA PARA LA TOMA DE DECISIONES EN LIGAS DE FÚTBOL DE ASCENSO DEL PERÚ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A1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0577" y="445885"/>
            <a:ext cx="13816515" cy="9395230"/>
          </a:xfrm>
          <a:custGeom>
            <a:avLst/>
            <a:gdLst/>
            <a:ahLst/>
            <a:cxnLst/>
            <a:rect r="r" b="b" t="t" l="l"/>
            <a:pathLst>
              <a:path h="9395230" w="13816515">
                <a:moveTo>
                  <a:pt x="0" y="0"/>
                </a:moveTo>
                <a:lnTo>
                  <a:pt x="13816515" y="0"/>
                </a:lnTo>
                <a:lnTo>
                  <a:pt x="13816515" y="9395230"/>
                </a:lnTo>
                <a:lnTo>
                  <a:pt x="0" y="939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19505" y="1411558"/>
            <a:ext cx="9398659" cy="126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8000">
                <a:solidFill>
                  <a:srgbClr val="FAE04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INTEGRANTES: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19505" y="2912562"/>
            <a:ext cx="10138073" cy="451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BFFF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ZBINHER KENYHO IRIGOIN TAMARA 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BFFF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JUAN MANUEL SEBASTIAN TACULI GALINDO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BFFF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ANDERSON BARTOLOME VALENCIA</a:t>
            </a:r>
          </a:p>
          <a:p>
            <a:pPr algn="l" marL="777237" indent="-388618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FBFFF0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DIEGO ARNALDO HUAMANCOLI CHAVEZ </a:t>
            </a:r>
          </a:p>
          <a:p>
            <a:pPr algn="l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99957" y="8904551"/>
            <a:ext cx="19487914" cy="6529736"/>
            <a:chOff x="0" y="0"/>
            <a:chExt cx="25983885" cy="8706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79398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947736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87555" y="2433547"/>
            <a:ext cx="510967" cy="510967"/>
          </a:xfrm>
          <a:custGeom>
            <a:avLst/>
            <a:gdLst/>
            <a:ahLst/>
            <a:cxnLst/>
            <a:rect r="r" b="b" t="t" l="l"/>
            <a:pathLst>
              <a:path h="510967" w="510967">
                <a:moveTo>
                  <a:pt x="0" y="0"/>
                </a:moveTo>
                <a:lnTo>
                  <a:pt x="510968" y="0"/>
                </a:lnTo>
                <a:lnTo>
                  <a:pt x="510968" y="510968"/>
                </a:lnTo>
                <a:lnTo>
                  <a:pt x="0" y="510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8530" y="5533585"/>
            <a:ext cx="650170" cy="650170"/>
          </a:xfrm>
          <a:custGeom>
            <a:avLst/>
            <a:gdLst/>
            <a:ahLst/>
            <a:cxnLst/>
            <a:rect r="r" b="b" t="t" l="l"/>
            <a:pathLst>
              <a:path h="650170" w="650170">
                <a:moveTo>
                  <a:pt x="0" y="0"/>
                </a:moveTo>
                <a:lnTo>
                  <a:pt x="650170" y="0"/>
                </a:lnTo>
                <a:lnTo>
                  <a:pt x="650170" y="650170"/>
                </a:lnTo>
                <a:lnTo>
                  <a:pt x="0" y="650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8523" y="2087002"/>
            <a:ext cx="7471044" cy="124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  <a:spcBef>
                <a:spcPct val="0"/>
              </a:spcBef>
            </a:pPr>
            <a:r>
              <a:rPr lang="en-US" b="true" sz="3381" spc="-84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EN QUE CONSISTE NUESTRO PROYECTO?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536231"/>
            <a:ext cx="7471044" cy="64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4"/>
              </a:lnSpc>
              <a:spcBef>
                <a:spcPct val="0"/>
              </a:spcBef>
            </a:pPr>
            <a:r>
              <a:rPr lang="en-US" b="true" sz="3381" spc="-84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PROBLEMATICA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555" y="3572075"/>
            <a:ext cx="7773960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35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DISEÑO E IMPLEMENTACIÓN DE UN </a:t>
            </a:r>
            <a:r>
              <a:rPr lang="en-US" b="true" sz="1400" spc="-35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ECOSISTEMA DE INTELIGENCIA DE NEGOCIOS ANALÍTICO QUE UNIFICA, LIMPIA Y TRANSFORMA DATOS OPERACIONALES FRAGMENTADOS DE PARTIDOS, AFOROS Y BOLETAJE DE LA LIGA 2 Y COPA PERÚ.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530" y="6262701"/>
            <a:ext cx="811530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</a:p>
          <a:p>
            <a:pPr algn="l" marL="302261" indent="-151130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 spc="-35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INFORMALIDAD EN TAQUILLAS: CONTROL DEFICIENTE DE INGRESOS REALES Y PÉRDIDA DE RECAUDACIÓN EN ESTADIOS REGIONALES.</a:t>
            </a:r>
          </a:p>
          <a:p>
            <a:pPr algn="l" marL="302261" indent="-151130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 spc="-35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RIESGO DE AFORO LIMITADO: AUSENCIA DE ALERTAS DE SATURACIÓN DE CAPACIDAD AUTORIZADA EN RECINTOS LOCALES.</a:t>
            </a:r>
          </a:p>
          <a:p>
            <a:pPr algn="l" marL="302261" indent="-151130" lvl="1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0" spc="-35">
                <a:solidFill>
                  <a:srgbClr val="00582F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CERO ANALÍTICA DE VENTA: DESCONOCIMIENTO DEL IMPACTO REAL DE CANALES DIGITALES (YAPE) VS. EFECTIVO.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0531263" y="650229"/>
            <a:ext cx="6498323" cy="9766710"/>
          </a:xfrm>
          <a:custGeom>
            <a:avLst/>
            <a:gdLst/>
            <a:ahLst/>
            <a:cxnLst/>
            <a:rect r="r" b="b" t="t" l="l"/>
            <a:pathLst>
              <a:path h="9766710" w="6498323">
                <a:moveTo>
                  <a:pt x="6498323" y="0"/>
                </a:moveTo>
                <a:lnTo>
                  <a:pt x="0" y="0"/>
                </a:lnTo>
                <a:lnTo>
                  <a:pt x="0" y="9766711"/>
                </a:lnTo>
                <a:lnTo>
                  <a:pt x="6498323" y="9766711"/>
                </a:lnTo>
                <a:lnTo>
                  <a:pt x="64983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7180" t="-12774" r="-36494" b="-1253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8530" y="345230"/>
            <a:ext cx="10782915" cy="1189322"/>
            <a:chOff x="0" y="0"/>
            <a:chExt cx="14377220" cy="158576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4377220" cy="1585762"/>
              <a:chOff x="0" y="0"/>
              <a:chExt cx="3079891" cy="33970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79891" cy="339702"/>
              </a:xfrm>
              <a:custGeom>
                <a:avLst/>
                <a:gdLst/>
                <a:ahLst/>
                <a:cxnLst/>
                <a:rect r="r" b="b" t="t" l="l"/>
                <a:pathLst>
                  <a:path h="339702" w="3079891">
                    <a:moveTo>
                      <a:pt x="30384" y="0"/>
                    </a:moveTo>
                    <a:lnTo>
                      <a:pt x="3049507" y="0"/>
                    </a:lnTo>
                    <a:cubicBezTo>
                      <a:pt x="3057566" y="0"/>
                      <a:pt x="3065294" y="3201"/>
                      <a:pt x="3070992" y="8899"/>
                    </a:cubicBezTo>
                    <a:cubicBezTo>
                      <a:pt x="3076690" y="14597"/>
                      <a:pt x="3079891" y="22325"/>
                      <a:pt x="3079891" y="30384"/>
                    </a:cubicBezTo>
                    <a:lnTo>
                      <a:pt x="3079891" y="309319"/>
                    </a:lnTo>
                    <a:cubicBezTo>
                      <a:pt x="3079891" y="326099"/>
                      <a:pt x="3066288" y="339702"/>
                      <a:pt x="3049507" y="339702"/>
                    </a:cubicBezTo>
                    <a:lnTo>
                      <a:pt x="30384" y="339702"/>
                    </a:lnTo>
                    <a:cubicBezTo>
                      <a:pt x="13603" y="339702"/>
                      <a:pt x="0" y="326099"/>
                      <a:pt x="0" y="309319"/>
                    </a:cubicBezTo>
                    <a:lnTo>
                      <a:pt x="0" y="30384"/>
                    </a:lnTo>
                    <a:cubicBezTo>
                      <a:pt x="0" y="13603"/>
                      <a:pt x="13603" y="0"/>
                      <a:pt x="30384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76200"/>
                <a:ext cx="3079891" cy="415902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14377220" cy="1324753"/>
              <a:chOff x="0" y="0"/>
              <a:chExt cx="3079891" cy="2837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079891" cy="283789"/>
              </a:xfrm>
              <a:custGeom>
                <a:avLst/>
                <a:gdLst/>
                <a:ahLst/>
                <a:cxnLst/>
                <a:rect r="r" b="b" t="t" l="l"/>
                <a:pathLst>
                  <a:path h="283789" w="3079891">
                    <a:moveTo>
                      <a:pt x="30384" y="0"/>
                    </a:moveTo>
                    <a:lnTo>
                      <a:pt x="3049507" y="0"/>
                    </a:lnTo>
                    <a:cubicBezTo>
                      <a:pt x="3057566" y="0"/>
                      <a:pt x="3065294" y="3201"/>
                      <a:pt x="3070992" y="8899"/>
                    </a:cubicBezTo>
                    <a:cubicBezTo>
                      <a:pt x="3076690" y="14597"/>
                      <a:pt x="3079891" y="22325"/>
                      <a:pt x="3079891" y="30384"/>
                    </a:cubicBezTo>
                    <a:lnTo>
                      <a:pt x="3079891" y="253405"/>
                    </a:lnTo>
                    <a:cubicBezTo>
                      <a:pt x="3079891" y="270186"/>
                      <a:pt x="3066288" y="283789"/>
                      <a:pt x="3049507" y="283789"/>
                    </a:cubicBezTo>
                    <a:lnTo>
                      <a:pt x="30384" y="283789"/>
                    </a:lnTo>
                    <a:cubicBezTo>
                      <a:pt x="22325" y="283789"/>
                      <a:pt x="14597" y="280588"/>
                      <a:pt x="8899" y="274890"/>
                    </a:cubicBezTo>
                    <a:cubicBezTo>
                      <a:pt x="3201" y="269192"/>
                      <a:pt x="0" y="261463"/>
                      <a:pt x="0" y="253405"/>
                    </a:cubicBezTo>
                    <a:lnTo>
                      <a:pt x="0" y="30384"/>
                    </a:lnTo>
                    <a:cubicBezTo>
                      <a:pt x="0" y="13603"/>
                      <a:pt x="13603" y="0"/>
                      <a:pt x="30384" y="0"/>
                    </a:cubicBezTo>
                    <a:close/>
                  </a:path>
                </a:pathLst>
              </a:custGeom>
              <a:solidFill>
                <a:srgbClr val="00582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0"/>
                <a:ext cx="3079891" cy="474289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6999"/>
                  </a:lnSpc>
                  <a:spcBef>
                    <a:spcPct val="0"/>
                  </a:spcBef>
                </a:pPr>
                <a:r>
                  <a:rPr lang="en-US" b="true" sz="4999" spc="-124">
                    <a:solidFill>
                      <a:srgbClr val="F6F857"/>
                    </a:solidFill>
                    <a:latin typeface="Gill Sans Display Ultra-Bold"/>
                    <a:ea typeface="Gill Sans Display Ultra-Bold"/>
                    <a:cs typeface="Gill Sans Display Ultra-Bold"/>
                    <a:sym typeface="Gill Sans Display Ultra-Bold"/>
                  </a:rPr>
                  <a:t>CONTEXTO DEL PROYECTO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28202" y="-4177863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2298" y="-540404"/>
            <a:ext cx="18632596" cy="2928462"/>
            <a:chOff x="0" y="0"/>
            <a:chExt cx="24843461" cy="390461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0949923" y="422809"/>
              <a:ext cx="13321168" cy="3481808"/>
              <a:chOff x="0" y="0"/>
              <a:chExt cx="2631342" cy="68776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631342" cy="687764"/>
              </a:xfrm>
              <a:custGeom>
                <a:avLst/>
                <a:gdLst/>
                <a:ahLst/>
                <a:cxnLst/>
                <a:rect r="r" b="b" t="t" l="l"/>
                <a:pathLst>
                  <a:path h="687764" w="2631342">
                    <a:moveTo>
                      <a:pt x="77490" y="0"/>
                    </a:moveTo>
                    <a:lnTo>
                      <a:pt x="2553852" y="0"/>
                    </a:lnTo>
                    <a:cubicBezTo>
                      <a:pt x="2574404" y="0"/>
                      <a:pt x="2594114" y="8164"/>
                      <a:pt x="2608646" y="22696"/>
                    </a:cubicBezTo>
                    <a:cubicBezTo>
                      <a:pt x="2623178" y="37228"/>
                      <a:pt x="2631342" y="56938"/>
                      <a:pt x="2631342" y="77490"/>
                    </a:cubicBezTo>
                    <a:lnTo>
                      <a:pt x="2631342" y="610275"/>
                    </a:lnTo>
                    <a:cubicBezTo>
                      <a:pt x="2631342" y="630826"/>
                      <a:pt x="2623178" y="650536"/>
                      <a:pt x="2608646" y="665068"/>
                    </a:cubicBezTo>
                    <a:cubicBezTo>
                      <a:pt x="2594114" y="679600"/>
                      <a:pt x="2574404" y="687764"/>
                      <a:pt x="2553852" y="687764"/>
                    </a:cubicBezTo>
                    <a:lnTo>
                      <a:pt x="77490" y="687764"/>
                    </a:lnTo>
                    <a:cubicBezTo>
                      <a:pt x="56938" y="687764"/>
                      <a:pt x="37228" y="679600"/>
                      <a:pt x="22696" y="665068"/>
                    </a:cubicBezTo>
                    <a:cubicBezTo>
                      <a:pt x="8164" y="650536"/>
                      <a:pt x="0" y="630826"/>
                      <a:pt x="0" y="610275"/>
                    </a:cubicBezTo>
                    <a:lnTo>
                      <a:pt x="0" y="77490"/>
                    </a:lnTo>
                    <a:cubicBezTo>
                      <a:pt x="0" y="56938"/>
                      <a:pt x="8164" y="37228"/>
                      <a:pt x="22696" y="22696"/>
                    </a:cubicBezTo>
                    <a:cubicBezTo>
                      <a:pt x="37228" y="8164"/>
                      <a:pt x="56938" y="0"/>
                      <a:pt x="77490" y="0"/>
                    </a:cubicBezTo>
                    <a:close/>
                  </a:path>
                </a:pathLst>
              </a:custGeom>
              <a:solidFill>
                <a:srgbClr val="007B42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2631342" cy="7639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4843461" cy="2640678"/>
              <a:chOff x="0" y="0"/>
              <a:chExt cx="4907350" cy="52161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07350" cy="521615"/>
              </a:xfrm>
              <a:custGeom>
                <a:avLst/>
                <a:gdLst/>
                <a:ahLst/>
                <a:cxnLst/>
                <a:rect r="r" b="b" t="t" l="l"/>
                <a:pathLst>
                  <a:path h="521615" w="4907350">
                    <a:moveTo>
                      <a:pt x="0" y="0"/>
                    </a:moveTo>
                    <a:lnTo>
                      <a:pt x="4907350" y="0"/>
                    </a:lnTo>
                    <a:lnTo>
                      <a:pt x="4907350" y="521615"/>
                    </a:lnTo>
                    <a:lnTo>
                      <a:pt x="0" y="521615"/>
                    </a:ln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76200"/>
                <a:ext cx="4907350" cy="5978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-1849068" y="8901820"/>
            <a:ext cx="21475027" cy="7195550"/>
            <a:chOff x="0" y="0"/>
            <a:chExt cx="28633369" cy="9594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7167974" y="0"/>
              <a:ext cx="11465396" cy="9594067"/>
            </a:xfrm>
            <a:custGeom>
              <a:avLst/>
              <a:gdLst/>
              <a:ahLst/>
              <a:cxnLst/>
              <a:rect r="r" b="b" t="t" l="l"/>
              <a:pathLst>
                <a:path h="9594067" w="11465396">
                  <a:moveTo>
                    <a:pt x="0" y="0"/>
                  </a:moveTo>
                  <a:lnTo>
                    <a:pt x="11465395" y="0"/>
                  </a:lnTo>
                  <a:lnTo>
                    <a:pt x="11465395" y="9594067"/>
                  </a:lnTo>
                  <a:lnTo>
                    <a:pt x="0" y="9594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58139" y="0"/>
              <a:ext cx="11465396" cy="9594067"/>
            </a:xfrm>
            <a:custGeom>
              <a:avLst/>
              <a:gdLst/>
              <a:ahLst/>
              <a:cxnLst/>
              <a:rect r="r" b="b" t="t" l="l"/>
              <a:pathLst>
                <a:path h="9594067" w="11465396">
                  <a:moveTo>
                    <a:pt x="0" y="0"/>
                  </a:moveTo>
                  <a:lnTo>
                    <a:pt x="11465395" y="0"/>
                  </a:lnTo>
                  <a:lnTo>
                    <a:pt x="11465395" y="9594067"/>
                  </a:lnTo>
                  <a:lnTo>
                    <a:pt x="0" y="9594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65396" cy="9594067"/>
            </a:xfrm>
            <a:custGeom>
              <a:avLst/>
              <a:gdLst/>
              <a:ahLst/>
              <a:cxnLst/>
              <a:rect r="r" b="b" t="t" l="l"/>
              <a:pathLst>
                <a:path h="9594067" w="11465396">
                  <a:moveTo>
                    <a:pt x="0" y="0"/>
                  </a:moveTo>
                  <a:lnTo>
                    <a:pt x="11465396" y="0"/>
                  </a:lnTo>
                  <a:lnTo>
                    <a:pt x="11465396" y="9594067"/>
                  </a:lnTo>
                  <a:lnTo>
                    <a:pt x="0" y="9594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3789" y="-30490"/>
            <a:ext cx="15909313" cy="452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b="true" sz="5799" spc="-144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CONTEXTO DE APLICACIÓN </a:t>
            </a:r>
          </a:p>
          <a:p>
            <a:pPr algn="l">
              <a:lnSpc>
                <a:spcPts val="8119"/>
              </a:lnSpc>
            </a:pPr>
            <a:r>
              <a:rPr lang="en-US" b="true" sz="5799" spc="-144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                                 DEL PROYECTO BI</a:t>
            </a:r>
          </a:p>
          <a:p>
            <a:pPr algn="ctr">
              <a:lnSpc>
                <a:spcPts val="9508"/>
              </a:lnSpc>
            </a:pPr>
          </a:p>
          <a:p>
            <a:pPr algn="ctr">
              <a:lnSpc>
                <a:spcPts val="950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2137679">
            <a:off x="16586984" y="-434846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6052" y="3498348"/>
            <a:ext cx="4918849" cy="4061595"/>
            <a:chOff x="0" y="0"/>
            <a:chExt cx="1295499" cy="10697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5499" cy="1069721"/>
            </a:xfrm>
            <a:custGeom>
              <a:avLst/>
              <a:gdLst/>
              <a:ahLst/>
              <a:cxnLst/>
              <a:rect r="r" b="b" t="t" l="l"/>
              <a:pathLst>
                <a:path h="1069721" w="1295499">
                  <a:moveTo>
                    <a:pt x="80270" y="0"/>
                  </a:moveTo>
                  <a:lnTo>
                    <a:pt x="1215229" y="0"/>
                  </a:lnTo>
                  <a:cubicBezTo>
                    <a:pt x="1259561" y="0"/>
                    <a:pt x="1295499" y="35938"/>
                    <a:pt x="1295499" y="80270"/>
                  </a:cubicBezTo>
                  <a:lnTo>
                    <a:pt x="1295499" y="989450"/>
                  </a:lnTo>
                  <a:cubicBezTo>
                    <a:pt x="1295499" y="1033782"/>
                    <a:pt x="1259561" y="1069721"/>
                    <a:pt x="1215229" y="1069721"/>
                  </a:cubicBezTo>
                  <a:lnTo>
                    <a:pt x="80270" y="1069721"/>
                  </a:lnTo>
                  <a:cubicBezTo>
                    <a:pt x="35938" y="1069721"/>
                    <a:pt x="0" y="1033782"/>
                    <a:pt x="0" y="989450"/>
                  </a:cubicBezTo>
                  <a:lnTo>
                    <a:pt x="0" y="80270"/>
                  </a:lnTo>
                  <a:cubicBezTo>
                    <a:pt x="0" y="35938"/>
                    <a:pt x="35938" y="0"/>
                    <a:pt x="80270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295499" cy="1155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709189" y="3512540"/>
            <a:ext cx="6234290" cy="3588628"/>
            <a:chOff x="0" y="0"/>
            <a:chExt cx="1641953" cy="9451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1953" cy="945153"/>
            </a:xfrm>
            <a:custGeom>
              <a:avLst/>
              <a:gdLst/>
              <a:ahLst/>
              <a:cxnLst/>
              <a:rect r="r" b="b" t="t" l="l"/>
              <a:pathLst>
                <a:path h="945153" w="1641953">
                  <a:moveTo>
                    <a:pt x="63333" y="0"/>
                  </a:moveTo>
                  <a:lnTo>
                    <a:pt x="1578620" y="0"/>
                  </a:lnTo>
                  <a:cubicBezTo>
                    <a:pt x="1613598" y="0"/>
                    <a:pt x="1641953" y="28355"/>
                    <a:pt x="1641953" y="63333"/>
                  </a:cubicBezTo>
                  <a:lnTo>
                    <a:pt x="1641953" y="881820"/>
                  </a:lnTo>
                  <a:cubicBezTo>
                    <a:pt x="1641953" y="916798"/>
                    <a:pt x="1613598" y="945153"/>
                    <a:pt x="1578620" y="945153"/>
                  </a:cubicBezTo>
                  <a:lnTo>
                    <a:pt x="63333" y="945153"/>
                  </a:lnTo>
                  <a:cubicBezTo>
                    <a:pt x="28355" y="945153"/>
                    <a:pt x="0" y="916798"/>
                    <a:pt x="0" y="881820"/>
                  </a:cubicBezTo>
                  <a:lnTo>
                    <a:pt x="0" y="63333"/>
                  </a:lnTo>
                  <a:cubicBezTo>
                    <a:pt x="0" y="28355"/>
                    <a:pt x="28355" y="0"/>
                    <a:pt x="63333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641953" cy="1030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564368" y="3512540"/>
            <a:ext cx="4697146" cy="4947627"/>
            <a:chOff x="0" y="0"/>
            <a:chExt cx="1237108" cy="13030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7108" cy="1303079"/>
            </a:xfrm>
            <a:custGeom>
              <a:avLst/>
              <a:gdLst/>
              <a:ahLst/>
              <a:cxnLst/>
              <a:rect r="r" b="b" t="t" l="l"/>
              <a:pathLst>
                <a:path h="1303079" w="1237108">
                  <a:moveTo>
                    <a:pt x="84059" y="0"/>
                  </a:moveTo>
                  <a:lnTo>
                    <a:pt x="1153049" y="0"/>
                  </a:lnTo>
                  <a:cubicBezTo>
                    <a:pt x="1199474" y="0"/>
                    <a:pt x="1237108" y="37635"/>
                    <a:pt x="1237108" y="84059"/>
                  </a:cubicBezTo>
                  <a:lnTo>
                    <a:pt x="1237108" y="1219020"/>
                  </a:lnTo>
                  <a:cubicBezTo>
                    <a:pt x="1237108" y="1265444"/>
                    <a:pt x="1199474" y="1303079"/>
                    <a:pt x="1153049" y="1303079"/>
                  </a:cubicBezTo>
                  <a:lnTo>
                    <a:pt x="84059" y="1303079"/>
                  </a:lnTo>
                  <a:cubicBezTo>
                    <a:pt x="37635" y="1303079"/>
                    <a:pt x="0" y="1265444"/>
                    <a:pt x="0" y="1219020"/>
                  </a:cubicBezTo>
                  <a:lnTo>
                    <a:pt x="0" y="84059"/>
                  </a:lnTo>
                  <a:cubicBezTo>
                    <a:pt x="0" y="37635"/>
                    <a:pt x="37635" y="0"/>
                    <a:pt x="84059" y="0"/>
                  </a:cubicBezTo>
                  <a:close/>
                </a:path>
              </a:pathLst>
            </a:custGeom>
            <a:solidFill>
              <a:srgbClr val="F6F8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237108" cy="1388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39480" y="1483550"/>
            <a:ext cx="2014798" cy="2014798"/>
          </a:xfrm>
          <a:custGeom>
            <a:avLst/>
            <a:gdLst/>
            <a:ahLst/>
            <a:cxnLst/>
            <a:rect r="r" b="b" t="t" l="l"/>
            <a:pathLst>
              <a:path h="2014798" w="2014798">
                <a:moveTo>
                  <a:pt x="0" y="0"/>
                </a:moveTo>
                <a:lnTo>
                  <a:pt x="2014798" y="0"/>
                </a:lnTo>
                <a:lnTo>
                  <a:pt x="2014798" y="2014798"/>
                </a:lnTo>
                <a:lnTo>
                  <a:pt x="0" y="2014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354278" y="2036703"/>
            <a:ext cx="2116037" cy="1584199"/>
          </a:xfrm>
          <a:custGeom>
            <a:avLst/>
            <a:gdLst/>
            <a:ahLst/>
            <a:cxnLst/>
            <a:rect r="r" b="b" t="t" l="l"/>
            <a:pathLst>
              <a:path h="1584199" w="2116037">
                <a:moveTo>
                  <a:pt x="0" y="0"/>
                </a:moveTo>
                <a:lnTo>
                  <a:pt x="2116038" y="0"/>
                </a:lnTo>
                <a:lnTo>
                  <a:pt x="2116038" y="1584199"/>
                </a:lnTo>
                <a:lnTo>
                  <a:pt x="0" y="15841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39480" y="6756746"/>
            <a:ext cx="3791219" cy="3791219"/>
          </a:xfrm>
          <a:custGeom>
            <a:avLst/>
            <a:gdLst/>
            <a:ahLst/>
            <a:cxnLst/>
            <a:rect r="r" b="b" t="t" l="l"/>
            <a:pathLst>
              <a:path h="3791219" w="3791219">
                <a:moveTo>
                  <a:pt x="0" y="0"/>
                </a:moveTo>
                <a:lnTo>
                  <a:pt x="3791219" y="0"/>
                </a:lnTo>
                <a:lnTo>
                  <a:pt x="3791219" y="3791219"/>
                </a:lnTo>
                <a:lnTo>
                  <a:pt x="0" y="3791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362026" y="1754702"/>
            <a:ext cx="1757839" cy="1757839"/>
          </a:xfrm>
          <a:custGeom>
            <a:avLst/>
            <a:gdLst/>
            <a:ahLst/>
            <a:cxnLst/>
            <a:rect r="r" b="b" t="t" l="l"/>
            <a:pathLst>
              <a:path h="1757839" w="1757839">
                <a:moveTo>
                  <a:pt x="0" y="0"/>
                </a:moveTo>
                <a:lnTo>
                  <a:pt x="1757838" y="0"/>
                </a:lnTo>
                <a:lnTo>
                  <a:pt x="1757838" y="1757838"/>
                </a:lnTo>
                <a:lnTo>
                  <a:pt x="0" y="1757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098217" y="7338193"/>
            <a:ext cx="2179075" cy="2179075"/>
          </a:xfrm>
          <a:custGeom>
            <a:avLst/>
            <a:gdLst/>
            <a:ahLst/>
            <a:cxnLst/>
            <a:rect r="r" b="b" t="t" l="l"/>
            <a:pathLst>
              <a:path h="2179075" w="2179075">
                <a:moveTo>
                  <a:pt x="0" y="0"/>
                </a:moveTo>
                <a:lnTo>
                  <a:pt x="2179076" y="0"/>
                </a:lnTo>
                <a:lnTo>
                  <a:pt x="2179076" y="2179075"/>
                </a:lnTo>
                <a:lnTo>
                  <a:pt x="0" y="217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39480" y="3487552"/>
            <a:ext cx="4631994" cy="385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spc="-82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ESTRUCTURA DEL TORNEO</a:t>
            </a:r>
          </a:p>
          <a:p>
            <a:pPr algn="ctr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-62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Competencias de ascenso compuestas por 18 clubes en Liga 2 y más de 50 equipos regionales en Copa Perú. Red de partidos a nivel nacional.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47314" y="3605370"/>
            <a:ext cx="5795377" cy="326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spc="-82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OBJETIVO BI</a:t>
            </a:r>
          </a:p>
          <a:p>
            <a:pPr algn="ctr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-62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Consolidar una arquitectura analítica centralizada que unifique datos deportivos, financieros y de asistencia para la toma de decisiones.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97655" y="3487552"/>
            <a:ext cx="4076588" cy="472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 spc="-82">
                <a:solidFill>
                  <a:srgbClr val="00A153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ECOSISTEMA FRAGMENTADO</a:t>
            </a: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b="true" sz="2514" spc="-62">
                <a:solidFill>
                  <a:srgbClr val="00A153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Fuentes heterogéneas: taquillas locales, registros físicos de planillas, planillas arbitrales dispares y valoraciones informales de mercado.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2688" y="0"/>
            <a:ext cx="15328570" cy="1469300"/>
            <a:chOff x="0" y="0"/>
            <a:chExt cx="20438094" cy="19590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53396"/>
              <a:ext cx="20438094" cy="1705671"/>
              <a:chOff x="0" y="0"/>
              <a:chExt cx="3575016" cy="2983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575016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575016">
                    <a:moveTo>
                      <a:pt x="26176" y="0"/>
                    </a:moveTo>
                    <a:lnTo>
                      <a:pt x="3548840" y="0"/>
                    </a:lnTo>
                    <a:cubicBezTo>
                      <a:pt x="3563296" y="0"/>
                      <a:pt x="3575016" y="11719"/>
                      <a:pt x="3575016" y="26176"/>
                    </a:cubicBezTo>
                    <a:lnTo>
                      <a:pt x="3575016" y="272179"/>
                    </a:lnTo>
                    <a:cubicBezTo>
                      <a:pt x="3575016" y="279121"/>
                      <a:pt x="3572258" y="285779"/>
                      <a:pt x="3567349" y="290688"/>
                    </a:cubicBezTo>
                    <a:cubicBezTo>
                      <a:pt x="3562440" y="295597"/>
                      <a:pt x="3555783" y="298355"/>
                      <a:pt x="3548840" y="298355"/>
                    </a:cubicBezTo>
                    <a:lnTo>
                      <a:pt x="26176" y="298355"/>
                    </a:lnTo>
                    <a:cubicBezTo>
                      <a:pt x="19234" y="298355"/>
                      <a:pt x="12576" y="295597"/>
                      <a:pt x="7667" y="290688"/>
                    </a:cubicBezTo>
                    <a:cubicBezTo>
                      <a:pt x="2758" y="285779"/>
                      <a:pt x="0" y="279121"/>
                      <a:pt x="0" y="272179"/>
                    </a:cubicBezTo>
                    <a:lnTo>
                      <a:pt x="0" y="26176"/>
                    </a:lnTo>
                    <a:cubicBezTo>
                      <a:pt x="0" y="19234"/>
                      <a:pt x="2758" y="12576"/>
                      <a:pt x="7667" y="7667"/>
                    </a:cubicBezTo>
                    <a:cubicBezTo>
                      <a:pt x="12576" y="2758"/>
                      <a:pt x="19234" y="0"/>
                      <a:pt x="26176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3575016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0438094" cy="1705671"/>
              <a:chOff x="0" y="0"/>
              <a:chExt cx="3575016" cy="2983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75016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575016">
                    <a:moveTo>
                      <a:pt x="26176" y="0"/>
                    </a:moveTo>
                    <a:lnTo>
                      <a:pt x="3548840" y="0"/>
                    </a:lnTo>
                    <a:cubicBezTo>
                      <a:pt x="3563296" y="0"/>
                      <a:pt x="3575016" y="11719"/>
                      <a:pt x="3575016" y="26176"/>
                    </a:cubicBezTo>
                    <a:lnTo>
                      <a:pt x="3575016" y="272179"/>
                    </a:lnTo>
                    <a:cubicBezTo>
                      <a:pt x="3575016" y="279121"/>
                      <a:pt x="3572258" y="285779"/>
                      <a:pt x="3567349" y="290688"/>
                    </a:cubicBezTo>
                    <a:cubicBezTo>
                      <a:pt x="3562440" y="295597"/>
                      <a:pt x="3555783" y="298355"/>
                      <a:pt x="3548840" y="298355"/>
                    </a:cubicBezTo>
                    <a:lnTo>
                      <a:pt x="26176" y="298355"/>
                    </a:lnTo>
                    <a:cubicBezTo>
                      <a:pt x="19234" y="298355"/>
                      <a:pt x="12576" y="295597"/>
                      <a:pt x="7667" y="290688"/>
                    </a:cubicBezTo>
                    <a:cubicBezTo>
                      <a:pt x="2758" y="285779"/>
                      <a:pt x="0" y="279121"/>
                      <a:pt x="0" y="272179"/>
                    </a:cubicBezTo>
                    <a:lnTo>
                      <a:pt x="0" y="26176"/>
                    </a:lnTo>
                    <a:cubicBezTo>
                      <a:pt x="0" y="19234"/>
                      <a:pt x="2758" y="12576"/>
                      <a:pt x="7667" y="7667"/>
                    </a:cubicBezTo>
                    <a:cubicBezTo>
                      <a:pt x="12576" y="2758"/>
                      <a:pt x="19234" y="0"/>
                      <a:pt x="26176" y="0"/>
                    </a:cubicBezTo>
                    <a:close/>
                  </a:path>
                </a:pathLst>
              </a:custGeom>
              <a:solidFill>
                <a:srgbClr val="00582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76200"/>
                <a:ext cx="3575016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2137679">
            <a:off x="16586984" y="-434846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18991" y="1848159"/>
            <a:ext cx="6224317" cy="2323343"/>
            <a:chOff x="0" y="0"/>
            <a:chExt cx="1005596" cy="375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5596" cy="375358"/>
            </a:xfrm>
            <a:custGeom>
              <a:avLst/>
              <a:gdLst/>
              <a:ahLst/>
              <a:cxnLst/>
              <a:rect r="r" b="b" t="t" l="l"/>
              <a:pathLst>
                <a:path h="375358" w="1005596">
                  <a:moveTo>
                    <a:pt x="1005596" y="0"/>
                  </a:moveTo>
                  <a:lnTo>
                    <a:pt x="0" y="0"/>
                  </a:lnTo>
                  <a:lnTo>
                    <a:pt x="101600" y="187679"/>
                  </a:lnTo>
                  <a:lnTo>
                    <a:pt x="0" y="375358"/>
                  </a:lnTo>
                  <a:lnTo>
                    <a:pt x="1005596" y="375358"/>
                  </a:lnTo>
                  <a:lnTo>
                    <a:pt x="903996" y="187679"/>
                  </a:lnTo>
                  <a:lnTo>
                    <a:pt x="1005596" y="0"/>
                  </a:ln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8900" y="-95250"/>
              <a:ext cx="827796" cy="470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8991" y="4503380"/>
            <a:ext cx="6322940" cy="2400304"/>
            <a:chOff x="0" y="0"/>
            <a:chExt cx="1665301" cy="6321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65301" cy="632179"/>
            </a:xfrm>
            <a:custGeom>
              <a:avLst/>
              <a:gdLst/>
              <a:ahLst/>
              <a:cxnLst/>
              <a:rect r="r" b="b" t="t" l="l"/>
              <a:pathLst>
                <a:path h="632179" w="1665301">
                  <a:moveTo>
                    <a:pt x="1665301" y="0"/>
                  </a:moveTo>
                  <a:lnTo>
                    <a:pt x="0" y="0"/>
                  </a:lnTo>
                  <a:lnTo>
                    <a:pt x="101600" y="316089"/>
                  </a:lnTo>
                  <a:lnTo>
                    <a:pt x="0" y="632179"/>
                  </a:lnTo>
                  <a:lnTo>
                    <a:pt x="1665301" y="632179"/>
                  </a:lnTo>
                  <a:lnTo>
                    <a:pt x="1563701" y="316089"/>
                  </a:lnTo>
                  <a:lnTo>
                    <a:pt x="1665301" y="0"/>
                  </a:ln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8900" y="-95250"/>
              <a:ext cx="1487501" cy="72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8991" y="7284683"/>
            <a:ext cx="5978882" cy="2585150"/>
            <a:chOff x="0" y="0"/>
            <a:chExt cx="964648" cy="4170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4648" cy="417095"/>
            </a:xfrm>
            <a:custGeom>
              <a:avLst/>
              <a:gdLst/>
              <a:ahLst/>
              <a:cxnLst/>
              <a:rect r="r" b="b" t="t" l="l"/>
              <a:pathLst>
                <a:path h="417095" w="964648">
                  <a:moveTo>
                    <a:pt x="964648" y="0"/>
                  </a:moveTo>
                  <a:lnTo>
                    <a:pt x="0" y="0"/>
                  </a:lnTo>
                  <a:lnTo>
                    <a:pt x="101600" y="208547"/>
                  </a:lnTo>
                  <a:lnTo>
                    <a:pt x="0" y="417095"/>
                  </a:lnTo>
                  <a:lnTo>
                    <a:pt x="964648" y="417095"/>
                  </a:lnTo>
                  <a:lnTo>
                    <a:pt x="863048" y="208547"/>
                  </a:lnTo>
                  <a:lnTo>
                    <a:pt x="964648" y="0"/>
                  </a:ln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95250"/>
              <a:ext cx="786848" cy="512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10760" y="3907755"/>
            <a:ext cx="7266782" cy="2995928"/>
            <a:chOff x="0" y="0"/>
            <a:chExt cx="1913885" cy="789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3885" cy="789051"/>
            </a:xfrm>
            <a:custGeom>
              <a:avLst/>
              <a:gdLst/>
              <a:ahLst/>
              <a:cxnLst/>
              <a:rect r="r" b="b" t="t" l="l"/>
              <a:pathLst>
                <a:path h="789051" w="1913885">
                  <a:moveTo>
                    <a:pt x="1710685" y="0"/>
                  </a:moveTo>
                  <a:lnTo>
                    <a:pt x="203200" y="0"/>
                  </a:lnTo>
                  <a:lnTo>
                    <a:pt x="0" y="394526"/>
                  </a:lnTo>
                  <a:lnTo>
                    <a:pt x="203200" y="789051"/>
                  </a:lnTo>
                  <a:lnTo>
                    <a:pt x="1710685" y="789051"/>
                  </a:lnTo>
                  <a:lnTo>
                    <a:pt x="1913885" y="394526"/>
                  </a:lnTo>
                  <a:lnTo>
                    <a:pt x="1710685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52400" y="-95250"/>
              <a:ext cx="1609085" cy="88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39214" y="110568"/>
            <a:ext cx="14775518" cy="220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3"/>
              </a:lnSpc>
            </a:pPr>
            <a:r>
              <a:rPr lang="en-US" b="true" sz="5974" spc="-149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PROBLEMÁTICA ACTUAL DEL SECTOR</a:t>
            </a:r>
          </a:p>
          <a:p>
            <a:pPr algn="ctr">
              <a:lnSpc>
                <a:spcPts val="836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57412" y="2065990"/>
            <a:ext cx="5347476" cy="243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FUGA DE INGRESOS POR TAQUILLA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Subregistro de asistentes e ineficiencia en precios de boletería regional.</a:t>
            </a:r>
          </a:p>
          <a:p>
            <a:pPr algn="ctr">
              <a:lnSpc>
                <a:spcPts val="320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43889" y="4637237"/>
            <a:ext cx="5414023" cy="203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FALTA DE VALORACIÓN DEPORTIVA REAL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Falta de métricas cuantitativas para traspasos y desarrollo de cantera.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2936" y="7432443"/>
            <a:ext cx="5110992" cy="243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OPACIDAD FINANCIERA EN CLUBES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Presupuestos imprecisos y alto riesgo de insolvencia durante la temporada.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06365" y="4139399"/>
            <a:ext cx="6692477" cy="243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 DESAFÍO CENTRAL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"La toma de decisiones basada en la intuición genera sobrecostos operativos y pérdida de patrocinadores en más del 65% de clubes de ascenso."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873712" y="2311499"/>
            <a:ext cx="1757782" cy="1757782"/>
          </a:xfrm>
          <a:custGeom>
            <a:avLst/>
            <a:gdLst/>
            <a:ahLst/>
            <a:cxnLst/>
            <a:rect r="r" b="b" t="t" l="l"/>
            <a:pathLst>
              <a:path h="1757782" w="1757782">
                <a:moveTo>
                  <a:pt x="0" y="0"/>
                </a:moveTo>
                <a:lnTo>
                  <a:pt x="1757782" y="0"/>
                </a:lnTo>
                <a:lnTo>
                  <a:pt x="1757782" y="1757782"/>
                </a:lnTo>
                <a:lnTo>
                  <a:pt x="0" y="175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999814" y="7132491"/>
            <a:ext cx="3886259" cy="2609940"/>
          </a:xfrm>
          <a:custGeom>
            <a:avLst/>
            <a:gdLst/>
            <a:ahLst/>
            <a:cxnLst/>
            <a:rect r="r" b="b" t="t" l="l"/>
            <a:pathLst>
              <a:path h="2609940" w="3886259">
                <a:moveTo>
                  <a:pt x="0" y="0"/>
                </a:moveTo>
                <a:lnTo>
                  <a:pt x="3886259" y="0"/>
                </a:lnTo>
                <a:lnTo>
                  <a:pt x="3886259" y="2609940"/>
                </a:lnTo>
                <a:lnTo>
                  <a:pt x="0" y="2609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3" r="-2585" b="-941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2947" y="-2457567"/>
            <a:ext cx="19233893" cy="14425638"/>
          </a:xfrm>
          <a:custGeom>
            <a:avLst/>
            <a:gdLst/>
            <a:ahLst/>
            <a:cxnLst/>
            <a:rect r="r" b="b" t="t" l="l"/>
            <a:pathLst>
              <a:path h="14425638" w="19233893">
                <a:moveTo>
                  <a:pt x="0" y="0"/>
                </a:moveTo>
                <a:lnTo>
                  <a:pt x="19233894" y="0"/>
                </a:lnTo>
                <a:lnTo>
                  <a:pt x="19233894" y="14425637"/>
                </a:lnTo>
                <a:lnTo>
                  <a:pt x="0" y="14425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6" r="0" b="-685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2598" y="6444418"/>
            <a:ext cx="4272509" cy="371664"/>
          </a:xfrm>
          <a:custGeom>
            <a:avLst/>
            <a:gdLst/>
            <a:ahLst/>
            <a:cxnLst/>
            <a:rect r="r" b="b" t="t" l="l"/>
            <a:pathLst>
              <a:path h="371664" w="4272509">
                <a:moveTo>
                  <a:pt x="0" y="0"/>
                </a:moveTo>
                <a:lnTo>
                  <a:pt x="4272509" y="0"/>
                </a:lnTo>
                <a:lnTo>
                  <a:pt x="4272509" y="371664"/>
                </a:lnTo>
                <a:lnTo>
                  <a:pt x="0" y="371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7288" r="-48374" b="-137500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8936" y="322405"/>
            <a:ext cx="12638444" cy="1180077"/>
            <a:chOff x="0" y="0"/>
            <a:chExt cx="16851258" cy="157343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80689"/>
              <a:ext cx="16851258" cy="1392747"/>
              <a:chOff x="0" y="0"/>
              <a:chExt cx="3609880" cy="29835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09880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609880">
                    <a:moveTo>
                      <a:pt x="25923" y="0"/>
                    </a:moveTo>
                    <a:lnTo>
                      <a:pt x="3583957" y="0"/>
                    </a:lnTo>
                    <a:cubicBezTo>
                      <a:pt x="3598274" y="0"/>
                      <a:pt x="3609880" y="11606"/>
                      <a:pt x="3609880" y="25923"/>
                    </a:cubicBezTo>
                    <a:lnTo>
                      <a:pt x="3609880" y="272432"/>
                    </a:lnTo>
                    <a:cubicBezTo>
                      <a:pt x="3609880" y="286749"/>
                      <a:pt x="3598274" y="298355"/>
                      <a:pt x="3583957" y="298355"/>
                    </a:cubicBezTo>
                    <a:lnTo>
                      <a:pt x="25923" y="298355"/>
                    </a:lnTo>
                    <a:cubicBezTo>
                      <a:pt x="11606" y="298355"/>
                      <a:pt x="0" y="286749"/>
                      <a:pt x="0" y="272432"/>
                    </a:cubicBezTo>
                    <a:lnTo>
                      <a:pt x="0" y="25923"/>
                    </a:lnTo>
                    <a:cubicBezTo>
                      <a:pt x="0" y="11606"/>
                      <a:pt x="11606" y="0"/>
                      <a:pt x="25923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3609880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6851258" cy="1392747"/>
              <a:chOff x="0" y="0"/>
              <a:chExt cx="3609880" cy="29835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09880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609880">
                    <a:moveTo>
                      <a:pt x="25923" y="0"/>
                    </a:moveTo>
                    <a:lnTo>
                      <a:pt x="3583957" y="0"/>
                    </a:lnTo>
                    <a:cubicBezTo>
                      <a:pt x="3598274" y="0"/>
                      <a:pt x="3609880" y="11606"/>
                      <a:pt x="3609880" y="25923"/>
                    </a:cubicBezTo>
                    <a:lnTo>
                      <a:pt x="3609880" y="272432"/>
                    </a:lnTo>
                    <a:cubicBezTo>
                      <a:pt x="3609880" y="286749"/>
                      <a:pt x="3598274" y="298355"/>
                      <a:pt x="3583957" y="298355"/>
                    </a:cubicBezTo>
                    <a:lnTo>
                      <a:pt x="25923" y="298355"/>
                    </a:lnTo>
                    <a:cubicBezTo>
                      <a:pt x="11606" y="298355"/>
                      <a:pt x="0" y="286749"/>
                      <a:pt x="0" y="272432"/>
                    </a:cubicBezTo>
                    <a:lnTo>
                      <a:pt x="0" y="25923"/>
                    </a:lnTo>
                    <a:cubicBezTo>
                      <a:pt x="0" y="11606"/>
                      <a:pt x="11606" y="0"/>
                      <a:pt x="25923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76200"/>
                <a:ext cx="3609880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46535" y="171"/>
              <a:ext cx="14614931" cy="1211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b="true" sz="5000" spc="-125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¿POR QUÉ ES INDISPENSABLE UN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8936" y="1157190"/>
            <a:ext cx="8228728" cy="1044560"/>
            <a:chOff x="0" y="0"/>
            <a:chExt cx="2350347" cy="2983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0346" cy="298355"/>
            </a:xfrm>
            <a:custGeom>
              <a:avLst/>
              <a:gdLst/>
              <a:ahLst/>
              <a:cxnLst/>
              <a:rect r="r" b="b" t="t" l="l"/>
              <a:pathLst>
                <a:path h="298355" w="2350346">
                  <a:moveTo>
                    <a:pt x="39515" y="0"/>
                  </a:moveTo>
                  <a:lnTo>
                    <a:pt x="2310831" y="0"/>
                  </a:lnTo>
                  <a:cubicBezTo>
                    <a:pt x="2332655" y="0"/>
                    <a:pt x="2350346" y="17692"/>
                    <a:pt x="2350346" y="39515"/>
                  </a:cubicBezTo>
                  <a:lnTo>
                    <a:pt x="2350346" y="258839"/>
                  </a:lnTo>
                  <a:cubicBezTo>
                    <a:pt x="2350346" y="280663"/>
                    <a:pt x="2332655" y="298355"/>
                    <a:pt x="2310831" y="298355"/>
                  </a:cubicBezTo>
                  <a:lnTo>
                    <a:pt x="39515" y="298355"/>
                  </a:lnTo>
                  <a:cubicBezTo>
                    <a:pt x="17692" y="298355"/>
                    <a:pt x="0" y="280663"/>
                    <a:pt x="0" y="258839"/>
                  </a:cubicBezTo>
                  <a:lnTo>
                    <a:pt x="0" y="39515"/>
                  </a:lnTo>
                  <a:cubicBezTo>
                    <a:pt x="0" y="17692"/>
                    <a:pt x="17692" y="0"/>
                    <a:pt x="39515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0"/>
              <a:ext cx="2350347" cy="488855"/>
            </a:xfrm>
            <a:prstGeom prst="rect">
              <a:avLst/>
            </a:prstGeom>
          </p:spPr>
          <p:txBody>
            <a:bodyPr anchor="ctr" rtlCol="false" tIns="46842" lIns="46842" bIns="46842" rIns="46842"/>
            <a:lstStyle/>
            <a:p>
              <a:pPr algn="l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 spc="-124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     SISTEMA BI?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8936" y="2626463"/>
            <a:ext cx="4392474" cy="3708803"/>
            <a:chOff x="0" y="0"/>
            <a:chExt cx="716925" cy="6053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6925" cy="605339"/>
            </a:xfrm>
            <a:custGeom>
              <a:avLst/>
              <a:gdLst/>
              <a:ahLst/>
              <a:cxnLst/>
              <a:rect r="r" b="b" t="t" l="l"/>
              <a:pathLst>
                <a:path h="605339" w="716925">
                  <a:moveTo>
                    <a:pt x="42393" y="253803"/>
                  </a:moveTo>
                  <a:cubicBezTo>
                    <a:pt x="63250" y="274981"/>
                    <a:pt x="63292" y="331166"/>
                    <a:pt x="42552" y="352426"/>
                  </a:cubicBezTo>
                  <a:cubicBezTo>
                    <a:pt x="16477" y="379153"/>
                    <a:pt x="859" y="413346"/>
                    <a:pt x="859" y="450521"/>
                  </a:cubicBezTo>
                  <a:cubicBezTo>
                    <a:pt x="859" y="536371"/>
                    <a:pt x="83221" y="605339"/>
                    <a:pt x="183787" y="605339"/>
                  </a:cubicBezTo>
                  <a:cubicBezTo>
                    <a:pt x="228043" y="605339"/>
                    <a:pt x="268549" y="592197"/>
                    <a:pt x="300185" y="570244"/>
                  </a:cubicBezTo>
                  <a:cubicBezTo>
                    <a:pt x="325422" y="552732"/>
                    <a:pt x="392368" y="552729"/>
                    <a:pt x="417606" y="570242"/>
                  </a:cubicBezTo>
                  <a:cubicBezTo>
                    <a:pt x="449242" y="592196"/>
                    <a:pt x="489750" y="605339"/>
                    <a:pt x="534015" y="605339"/>
                  </a:cubicBezTo>
                  <a:cubicBezTo>
                    <a:pt x="634582" y="605339"/>
                    <a:pt x="716925" y="536371"/>
                    <a:pt x="716925" y="450521"/>
                  </a:cubicBezTo>
                  <a:cubicBezTo>
                    <a:pt x="716925" y="413069"/>
                    <a:pt x="700821" y="378645"/>
                    <a:pt x="674306" y="351831"/>
                  </a:cubicBezTo>
                  <a:cubicBezTo>
                    <a:pt x="653473" y="330764"/>
                    <a:pt x="653473" y="275296"/>
                    <a:pt x="674275" y="254207"/>
                  </a:cubicBezTo>
                  <a:cubicBezTo>
                    <a:pt x="700809" y="227306"/>
                    <a:pt x="716925" y="192686"/>
                    <a:pt x="716925" y="154818"/>
                  </a:cubicBezTo>
                  <a:cubicBezTo>
                    <a:pt x="716925" y="69709"/>
                    <a:pt x="634582" y="0"/>
                    <a:pt x="534015" y="0"/>
                  </a:cubicBezTo>
                  <a:cubicBezTo>
                    <a:pt x="490131" y="0"/>
                    <a:pt x="450097" y="12853"/>
                    <a:pt x="418627" y="34366"/>
                  </a:cubicBezTo>
                  <a:cubicBezTo>
                    <a:pt x="393009" y="51879"/>
                    <a:pt x="323506" y="51682"/>
                    <a:pt x="297887" y="34171"/>
                  </a:cubicBezTo>
                  <a:cubicBezTo>
                    <a:pt x="266585" y="12775"/>
                    <a:pt x="226663" y="0"/>
                    <a:pt x="182910" y="0"/>
                  </a:cubicBezTo>
                  <a:cubicBezTo>
                    <a:pt x="82343" y="0"/>
                    <a:pt x="0" y="69709"/>
                    <a:pt x="0" y="154818"/>
                  </a:cubicBezTo>
                  <a:cubicBezTo>
                    <a:pt x="0" y="192496"/>
                    <a:pt x="15956" y="226961"/>
                    <a:pt x="42393" y="253803"/>
                  </a:cubicBezTo>
                  <a:close/>
                </a:path>
              </a:pathLst>
            </a:custGeom>
            <a:solidFill>
              <a:srgbClr val="F6F8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57028" y="-47098"/>
              <a:ext cx="602869" cy="60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007B42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VISIBILIDAD UNIFICADA</a:t>
              </a:r>
            </a:p>
            <a:p>
              <a:pPr algn="ctr">
                <a:lnSpc>
                  <a:spcPts val="3205"/>
                </a:lnSpc>
              </a:pPr>
            </a:p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007B42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Consolidación de datos de 18 sedes en un único panel de control central.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80578" y="4494048"/>
            <a:ext cx="4286956" cy="3900741"/>
            <a:chOff x="0" y="0"/>
            <a:chExt cx="762195" cy="693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195" cy="693529"/>
            </a:xfrm>
            <a:custGeom>
              <a:avLst/>
              <a:gdLst/>
              <a:ahLst/>
              <a:cxnLst/>
              <a:rect r="r" b="b" t="t" l="l"/>
              <a:pathLst>
                <a:path h="693529" w="762195">
                  <a:moveTo>
                    <a:pt x="45069" y="290779"/>
                  </a:moveTo>
                  <a:cubicBezTo>
                    <a:pt x="67243" y="315042"/>
                    <a:pt x="67288" y="379412"/>
                    <a:pt x="45239" y="403769"/>
                  </a:cubicBezTo>
                  <a:cubicBezTo>
                    <a:pt x="17517" y="434390"/>
                    <a:pt x="913" y="473565"/>
                    <a:pt x="913" y="516156"/>
                  </a:cubicBezTo>
                  <a:cubicBezTo>
                    <a:pt x="913" y="614514"/>
                    <a:pt x="88475" y="693529"/>
                    <a:pt x="195392" y="693529"/>
                  </a:cubicBezTo>
                  <a:cubicBezTo>
                    <a:pt x="242442" y="693529"/>
                    <a:pt x="285506" y="678473"/>
                    <a:pt x="319140" y="653321"/>
                  </a:cubicBezTo>
                  <a:cubicBezTo>
                    <a:pt x="345971" y="633258"/>
                    <a:pt x="417144" y="633255"/>
                    <a:pt x="443975" y="653318"/>
                  </a:cubicBezTo>
                  <a:cubicBezTo>
                    <a:pt x="477609" y="678471"/>
                    <a:pt x="520675" y="693529"/>
                    <a:pt x="567735" y="693529"/>
                  </a:cubicBezTo>
                  <a:cubicBezTo>
                    <a:pt x="674652" y="693529"/>
                    <a:pt x="762195" y="614514"/>
                    <a:pt x="762195" y="516156"/>
                  </a:cubicBezTo>
                  <a:cubicBezTo>
                    <a:pt x="762195" y="473248"/>
                    <a:pt x="745074" y="433808"/>
                    <a:pt x="716885" y="403088"/>
                  </a:cubicBezTo>
                  <a:cubicBezTo>
                    <a:pt x="694736" y="378952"/>
                    <a:pt x="694736" y="315403"/>
                    <a:pt x="716852" y="291241"/>
                  </a:cubicBezTo>
                  <a:cubicBezTo>
                    <a:pt x="745062" y="260422"/>
                    <a:pt x="762195" y="220758"/>
                    <a:pt x="762195" y="177373"/>
                  </a:cubicBezTo>
                  <a:cubicBezTo>
                    <a:pt x="762195" y="79864"/>
                    <a:pt x="674652" y="0"/>
                    <a:pt x="567735" y="0"/>
                  </a:cubicBezTo>
                  <a:cubicBezTo>
                    <a:pt x="521080" y="0"/>
                    <a:pt x="478518" y="14726"/>
                    <a:pt x="445062" y="39373"/>
                  </a:cubicBezTo>
                  <a:cubicBezTo>
                    <a:pt x="417825" y="59437"/>
                    <a:pt x="343934" y="59212"/>
                    <a:pt x="316697" y="39149"/>
                  </a:cubicBezTo>
                  <a:cubicBezTo>
                    <a:pt x="283419" y="14637"/>
                    <a:pt x="240975" y="0"/>
                    <a:pt x="194460" y="0"/>
                  </a:cubicBezTo>
                  <a:cubicBezTo>
                    <a:pt x="87542" y="0"/>
                    <a:pt x="0" y="79864"/>
                    <a:pt x="0" y="177373"/>
                  </a:cubicBezTo>
                  <a:cubicBezTo>
                    <a:pt x="0" y="220541"/>
                    <a:pt x="16964" y="260026"/>
                    <a:pt x="45069" y="290779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60629" y="-40083"/>
              <a:ext cx="640937" cy="678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AUMENTO DE MONETIZACIÓN</a:t>
              </a:r>
            </a:p>
            <a:p>
              <a:pPr algn="ctr">
                <a:lnSpc>
                  <a:spcPts val="3205"/>
                </a:lnSpc>
              </a:pPr>
            </a:p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Identificación de picos de asistencia para ajustar tarifas de tickets y sponsors.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06703" y="5941526"/>
            <a:ext cx="3918520" cy="3836327"/>
            <a:chOff x="0" y="0"/>
            <a:chExt cx="558800" cy="5470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47079"/>
            </a:xfrm>
            <a:custGeom>
              <a:avLst/>
              <a:gdLst/>
              <a:ahLst/>
              <a:cxnLst/>
              <a:rect r="r" b="b" t="t" l="l"/>
              <a:pathLst>
                <a:path h="547079" w="558800">
                  <a:moveTo>
                    <a:pt x="33042" y="229377"/>
                  </a:moveTo>
                  <a:cubicBezTo>
                    <a:pt x="49299" y="248516"/>
                    <a:pt x="49332" y="299293"/>
                    <a:pt x="33167" y="318507"/>
                  </a:cubicBezTo>
                  <a:cubicBezTo>
                    <a:pt x="12843" y="342662"/>
                    <a:pt x="669" y="373564"/>
                    <a:pt x="669" y="407161"/>
                  </a:cubicBezTo>
                  <a:cubicBezTo>
                    <a:pt x="669" y="484749"/>
                    <a:pt x="64865" y="547079"/>
                    <a:pt x="143251" y="547079"/>
                  </a:cubicBezTo>
                  <a:cubicBezTo>
                    <a:pt x="177745" y="547079"/>
                    <a:pt x="209318" y="535202"/>
                    <a:pt x="233976" y="515362"/>
                  </a:cubicBezTo>
                  <a:cubicBezTo>
                    <a:pt x="253647" y="499535"/>
                    <a:pt x="305827" y="499533"/>
                    <a:pt x="325498" y="515360"/>
                  </a:cubicBezTo>
                  <a:cubicBezTo>
                    <a:pt x="350157" y="535201"/>
                    <a:pt x="381730" y="547079"/>
                    <a:pt x="416232" y="547079"/>
                  </a:cubicBezTo>
                  <a:cubicBezTo>
                    <a:pt x="494618" y="547079"/>
                    <a:pt x="558800" y="484749"/>
                    <a:pt x="558800" y="407161"/>
                  </a:cubicBezTo>
                  <a:cubicBezTo>
                    <a:pt x="558800" y="373314"/>
                    <a:pt x="546247" y="342203"/>
                    <a:pt x="525581" y="317970"/>
                  </a:cubicBezTo>
                  <a:cubicBezTo>
                    <a:pt x="509342" y="298930"/>
                    <a:pt x="509342" y="248800"/>
                    <a:pt x="525556" y="229741"/>
                  </a:cubicBezTo>
                  <a:cubicBezTo>
                    <a:pt x="546238" y="205429"/>
                    <a:pt x="558800" y="174141"/>
                    <a:pt x="558800" y="139918"/>
                  </a:cubicBezTo>
                  <a:cubicBezTo>
                    <a:pt x="558800" y="63000"/>
                    <a:pt x="494618" y="0"/>
                    <a:pt x="416232" y="0"/>
                  </a:cubicBezTo>
                  <a:cubicBezTo>
                    <a:pt x="382027" y="0"/>
                    <a:pt x="350824" y="11616"/>
                    <a:pt x="326295" y="31059"/>
                  </a:cubicBezTo>
                  <a:cubicBezTo>
                    <a:pt x="306327" y="46886"/>
                    <a:pt x="252153" y="46708"/>
                    <a:pt x="232185" y="30882"/>
                  </a:cubicBezTo>
                  <a:cubicBezTo>
                    <a:pt x="207787" y="11546"/>
                    <a:pt x="176670" y="0"/>
                    <a:pt x="142568" y="0"/>
                  </a:cubicBezTo>
                  <a:cubicBezTo>
                    <a:pt x="64181" y="0"/>
                    <a:pt x="0" y="63000"/>
                    <a:pt x="0" y="139918"/>
                  </a:cubicBezTo>
                  <a:cubicBezTo>
                    <a:pt x="0" y="173970"/>
                    <a:pt x="12437" y="205117"/>
                    <a:pt x="33042" y="229377"/>
                  </a:cubicBezTo>
                  <a:close/>
                </a:path>
              </a:pathLst>
            </a:custGeom>
            <a:solidFill>
              <a:srgbClr val="F6F85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4450" y="-51732"/>
              <a:ext cx="469900" cy="555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007B42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FAIR PLAY FINANCIERO</a:t>
              </a:r>
            </a:p>
            <a:p>
              <a:pPr algn="ctr">
                <a:lnSpc>
                  <a:spcPts val="3205"/>
                </a:lnSpc>
              </a:pPr>
            </a:p>
            <a:p>
              <a:pPr algn="ctr">
                <a:lnSpc>
                  <a:spcPts val="3205"/>
                </a:lnSpc>
              </a:pPr>
              <a:r>
                <a:rPr lang="en-US" b="true" sz="2289" spc="-57">
                  <a:solidFill>
                    <a:srgbClr val="007B42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Monitoreo de ratios de endeudamiento y límites salariales exigidos por FPF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565963" y="466248"/>
            <a:ext cx="5475278" cy="5475278"/>
          </a:xfrm>
          <a:custGeom>
            <a:avLst/>
            <a:gdLst/>
            <a:ahLst/>
            <a:cxnLst/>
            <a:rect r="r" b="b" t="t" l="l"/>
            <a:pathLst>
              <a:path h="5475278" w="5475278">
                <a:moveTo>
                  <a:pt x="0" y="0"/>
                </a:moveTo>
                <a:lnTo>
                  <a:pt x="5475278" y="0"/>
                </a:lnTo>
                <a:lnTo>
                  <a:pt x="5475278" y="5475278"/>
                </a:lnTo>
                <a:lnTo>
                  <a:pt x="0" y="5475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07172" y="6763891"/>
            <a:ext cx="3013962" cy="3013962"/>
          </a:xfrm>
          <a:custGeom>
            <a:avLst/>
            <a:gdLst/>
            <a:ahLst/>
            <a:cxnLst/>
            <a:rect r="r" b="b" t="t" l="l"/>
            <a:pathLst>
              <a:path h="3013962" w="3013962">
                <a:moveTo>
                  <a:pt x="0" y="0"/>
                </a:moveTo>
                <a:lnTo>
                  <a:pt x="3013962" y="0"/>
                </a:lnTo>
                <a:lnTo>
                  <a:pt x="3013962" y="3013962"/>
                </a:lnTo>
                <a:lnTo>
                  <a:pt x="0" y="301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733960" y="6540254"/>
            <a:ext cx="3307281" cy="3307281"/>
          </a:xfrm>
          <a:custGeom>
            <a:avLst/>
            <a:gdLst/>
            <a:ahLst/>
            <a:cxnLst/>
            <a:rect r="r" b="b" t="t" l="l"/>
            <a:pathLst>
              <a:path h="3307281" w="3307281">
                <a:moveTo>
                  <a:pt x="0" y="0"/>
                </a:moveTo>
                <a:lnTo>
                  <a:pt x="3307281" y="0"/>
                </a:lnTo>
                <a:lnTo>
                  <a:pt x="3307281" y="3307281"/>
                </a:lnTo>
                <a:lnTo>
                  <a:pt x="0" y="3307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963623" y="2300488"/>
            <a:ext cx="2454764" cy="2454764"/>
          </a:xfrm>
          <a:custGeom>
            <a:avLst/>
            <a:gdLst/>
            <a:ahLst/>
            <a:cxnLst/>
            <a:rect r="r" b="b" t="t" l="l"/>
            <a:pathLst>
              <a:path h="2454764" w="2454764">
                <a:moveTo>
                  <a:pt x="0" y="0"/>
                </a:moveTo>
                <a:lnTo>
                  <a:pt x="2454764" y="0"/>
                </a:lnTo>
                <a:lnTo>
                  <a:pt x="2454764" y="2454764"/>
                </a:lnTo>
                <a:lnTo>
                  <a:pt x="0" y="2454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137679">
            <a:off x="16876677" y="-1000508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99957" y="8860019"/>
            <a:ext cx="19487914" cy="6529736"/>
            <a:chOff x="0" y="0"/>
            <a:chExt cx="25983885" cy="8706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79398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947736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2848813" y="5438002"/>
            <a:ext cx="5101667" cy="5101667"/>
          </a:xfrm>
          <a:custGeom>
            <a:avLst/>
            <a:gdLst/>
            <a:ahLst/>
            <a:cxnLst/>
            <a:rect r="r" b="b" t="t" l="l"/>
            <a:pathLst>
              <a:path h="5101667" w="5101667">
                <a:moveTo>
                  <a:pt x="5101667" y="0"/>
                </a:moveTo>
                <a:lnTo>
                  <a:pt x="0" y="0"/>
                </a:lnTo>
                <a:lnTo>
                  <a:pt x="0" y="5101667"/>
                </a:lnTo>
                <a:lnTo>
                  <a:pt x="5101667" y="5101667"/>
                </a:lnTo>
                <a:lnTo>
                  <a:pt x="510166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61944" y="180811"/>
            <a:ext cx="10151125" cy="1044560"/>
            <a:chOff x="0" y="0"/>
            <a:chExt cx="2899435" cy="298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99435" cy="298355"/>
            </a:xfrm>
            <a:custGeom>
              <a:avLst/>
              <a:gdLst/>
              <a:ahLst/>
              <a:cxnLst/>
              <a:rect r="r" b="b" t="t" l="l"/>
              <a:pathLst>
                <a:path h="298355" w="2899435">
                  <a:moveTo>
                    <a:pt x="32032" y="0"/>
                  </a:moveTo>
                  <a:lnTo>
                    <a:pt x="2867403" y="0"/>
                  </a:lnTo>
                  <a:cubicBezTo>
                    <a:pt x="2875898" y="0"/>
                    <a:pt x="2884046" y="3375"/>
                    <a:pt x="2890053" y="9382"/>
                  </a:cubicBezTo>
                  <a:cubicBezTo>
                    <a:pt x="2896060" y="15389"/>
                    <a:pt x="2899435" y="23537"/>
                    <a:pt x="2899435" y="32032"/>
                  </a:cubicBezTo>
                  <a:lnTo>
                    <a:pt x="2899435" y="266323"/>
                  </a:lnTo>
                  <a:cubicBezTo>
                    <a:pt x="2899435" y="284013"/>
                    <a:pt x="2885094" y="298355"/>
                    <a:pt x="2867403" y="298355"/>
                  </a:cubicBezTo>
                  <a:lnTo>
                    <a:pt x="32032" y="298355"/>
                  </a:lnTo>
                  <a:cubicBezTo>
                    <a:pt x="14341" y="298355"/>
                    <a:pt x="0" y="284013"/>
                    <a:pt x="0" y="266323"/>
                  </a:cubicBezTo>
                  <a:lnTo>
                    <a:pt x="0" y="32032"/>
                  </a:lnTo>
                  <a:cubicBezTo>
                    <a:pt x="0" y="14341"/>
                    <a:pt x="14341" y="0"/>
                    <a:pt x="32032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0"/>
              <a:ext cx="2899435" cy="488855"/>
            </a:xfrm>
            <a:prstGeom prst="rect">
              <a:avLst/>
            </a:prstGeom>
          </p:spPr>
          <p:txBody>
            <a:bodyPr anchor="ctr" rtlCol="false" tIns="46842" lIns="46842" bIns="46842" rIns="46842"/>
            <a:lstStyle/>
            <a:p>
              <a:pPr algn="l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 spc="-124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     KPIS Y METRICAS CLAVE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653" y="2378787"/>
            <a:ext cx="5197741" cy="3355509"/>
            <a:chOff x="0" y="0"/>
            <a:chExt cx="649193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193" cy="419100"/>
            </a:xfrm>
            <a:custGeom>
              <a:avLst/>
              <a:gdLst/>
              <a:ahLst/>
              <a:cxnLst/>
              <a:rect r="r" b="b" t="t" l="l"/>
              <a:pathLst>
                <a:path h="419100" w="649193">
                  <a:moveTo>
                    <a:pt x="29091" y="0"/>
                  </a:moveTo>
                  <a:lnTo>
                    <a:pt x="620102" y="0"/>
                  </a:lnTo>
                  <a:cubicBezTo>
                    <a:pt x="636168" y="0"/>
                    <a:pt x="649193" y="13025"/>
                    <a:pt x="649193" y="29091"/>
                  </a:cubicBezTo>
                  <a:lnTo>
                    <a:pt x="649193" y="390009"/>
                  </a:lnTo>
                  <a:cubicBezTo>
                    <a:pt x="649193" y="406075"/>
                    <a:pt x="636168" y="419100"/>
                    <a:pt x="620102" y="419100"/>
                  </a:cubicBezTo>
                  <a:lnTo>
                    <a:pt x="29091" y="419100"/>
                  </a:lnTo>
                  <a:cubicBezTo>
                    <a:pt x="13025" y="419100"/>
                    <a:pt x="0" y="406075"/>
                    <a:pt x="0" y="390009"/>
                  </a:cubicBezTo>
                  <a:lnTo>
                    <a:pt x="0" y="29091"/>
                  </a:lnTo>
                  <a:cubicBezTo>
                    <a:pt x="0" y="13025"/>
                    <a:pt x="13025" y="0"/>
                    <a:pt x="29091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649193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1944" y="2956956"/>
            <a:ext cx="5209601" cy="204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8"/>
              </a:lnSpc>
            </a:pPr>
            <a:r>
              <a:rPr lang="en-US" b="true" sz="3762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 AsistenciaPromedio +28% - Meta Temporada 2026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30100" y="5231982"/>
            <a:ext cx="5197741" cy="3355509"/>
            <a:chOff x="0" y="0"/>
            <a:chExt cx="649193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193" cy="419100"/>
            </a:xfrm>
            <a:custGeom>
              <a:avLst/>
              <a:gdLst/>
              <a:ahLst/>
              <a:cxnLst/>
              <a:rect r="r" b="b" t="t" l="l"/>
              <a:pathLst>
                <a:path h="419100" w="649193">
                  <a:moveTo>
                    <a:pt x="29091" y="0"/>
                  </a:moveTo>
                  <a:lnTo>
                    <a:pt x="620102" y="0"/>
                  </a:lnTo>
                  <a:cubicBezTo>
                    <a:pt x="636168" y="0"/>
                    <a:pt x="649193" y="13025"/>
                    <a:pt x="649193" y="29091"/>
                  </a:cubicBezTo>
                  <a:lnTo>
                    <a:pt x="649193" y="390009"/>
                  </a:lnTo>
                  <a:cubicBezTo>
                    <a:pt x="649193" y="406075"/>
                    <a:pt x="636168" y="419100"/>
                    <a:pt x="620102" y="419100"/>
                  </a:cubicBezTo>
                  <a:lnTo>
                    <a:pt x="29091" y="419100"/>
                  </a:lnTo>
                  <a:cubicBezTo>
                    <a:pt x="13025" y="419100"/>
                    <a:pt x="0" y="406075"/>
                    <a:pt x="0" y="390009"/>
                  </a:cubicBezTo>
                  <a:lnTo>
                    <a:pt x="0" y="29091"/>
                  </a:lnTo>
                  <a:cubicBezTo>
                    <a:pt x="0" y="13025"/>
                    <a:pt x="13025" y="0"/>
                    <a:pt x="29091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649193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18240" y="5477859"/>
            <a:ext cx="5209601" cy="271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8"/>
              </a:lnSpc>
            </a:pPr>
            <a:r>
              <a:rPr lang="en-US" sz="37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Ingreso Promedio por fan</a:t>
            </a:r>
          </a:p>
          <a:p>
            <a:pPr algn="ctr">
              <a:lnSpc>
                <a:spcPts val="5268"/>
              </a:lnSpc>
            </a:pPr>
            <a:r>
              <a:rPr lang="en-US" sz="37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S/24.5 - Cremiento proyectado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526848" y="1876473"/>
            <a:ext cx="5197741" cy="3355509"/>
            <a:chOff x="0" y="0"/>
            <a:chExt cx="649193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9193" cy="419100"/>
            </a:xfrm>
            <a:custGeom>
              <a:avLst/>
              <a:gdLst/>
              <a:ahLst/>
              <a:cxnLst/>
              <a:rect r="r" b="b" t="t" l="l"/>
              <a:pathLst>
                <a:path h="419100" w="649193">
                  <a:moveTo>
                    <a:pt x="29091" y="0"/>
                  </a:moveTo>
                  <a:lnTo>
                    <a:pt x="620102" y="0"/>
                  </a:lnTo>
                  <a:cubicBezTo>
                    <a:pt x="636168" y="0"/>
                    <a:pt x="649193" y="13025"/>
                    <a:pt x="649193" y="29091"/>
                  </a:cubicBezTo>
                  <a:lnTo>
                    <a:pt x="649193" y="390009"/>
                  </a:lnTo>
                  <a:cubicBezTo>
                    <a:pt x="649193" y="406075"/>
                    <a:pt x="636168" y="419100"/>
                    <a:pt x="620102" y="419100"/>
                  </a:cubicBezTo>
                  <a:lnTo>
                    <a:pt x="29091" y="419100"/>
                  </a:lnTo>
                  <a:cubicBezTo>
                    <a:pt x="13025" y="419100"/>
                    <a:pt x="0" y="406075"/>
                    <a:pt x="0" y="390009"/>
                  </a:cubicBezTo>
                  <a:lnTo>
                    <a:pt x="0" y="29091"/>
                  </a:lnTo>
                  <a:cubicBezTo>
                    <a:pt x="0" y="13025"/>
                    <a:pt x="13025" y="0"/>
                    <a:pt x="29091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649193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14987" y="2122984"/>
            <a:ext cx="5209601" cy="271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8"/>
              </a:lnSpc>
            </a:pPr>
            <a:r>
              <a:rPr lang="en-US" sz="37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Valoración de plantilla</a:t>
            </a:r>
          </a:p>
          <a:p>
            <a:pPr algn="ctr">
              <a:lnSpc>
                <a:spcPts val="5268"/>
              </a:lnSpc>
            </a:pPr>
            <a:r>
              <a:rPr lang="en-US" sz="37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€44.4 M - Valor total de la Liga 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2137679">
            <a:off x="16439181" y="-506463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59"/>
                </a:lnTo>
                <a:lnTo>
                  <a:pt x="0" y="232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06420"/>
            <a:ext cx="16035717" cy="1044560"/>
            <a:chOff x="0" y="0"/>
            <a:chExt cx="4580233" cy="2983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0233" cy="298355"/>
            </a:xfrm>
            <a:custGeom>
              <a:avLst/>
              <a:gdLst/>
              <a:ahLst/>
              <a:cxnLst/>
              <a:rect r="r" b="b" t="t" l="l"/>
              <a:pathLst>
                <a:path h="298355" w="4580233">
                  <a:moveTo>
                    <a:pt x="20277" y="0"/>
                  </a:moveTo>
                  <a:lnTo>
                    <a:pt x="4559955" y="0"/>
                  </a:lnTo>
                  <a:cubicBezTo>
                    <a:pt x="4571154" y="0"/>
                    <a:pt x="4580233" y="9078"/>
                    <a:pt x="4580233" y="20277"/>
                  </a:cubicBezTo>
                  <a:lnTo>
                    <a:pt x="4580233" y="278077"/>
                  </a:lnTo>
                  <a:cubicBezTo>
                    <a:pt x="4580233" y="283455"/>
                    <a:pt x="4578097" y="288613"/>
                    <a:pt x="4574294" y="292416"/>
                  </a:cubicBezTo>
                  <a:cubicBezTo>
                    <a:pt x="4570491" y="296218"/>
                    <a:pt x="4565333" y="298355"/>
                    <a:pt x="4559955" y="298355"/>
                  </a:cubicBezTo>
                  <a:lnTo>
                    <a:pt x="20277" y="298355"/>
                  </a:lnTo>
                  <a:cubicBezTo>
                    <a:pt x="14899" y="298355"/>
                    <a:pt x="9742" y="296218"/>
                    <a:pt x="5939" y="292416"/>
                  </a:cubicBezTo>
                  <a:cubicBezTo>
                    <a:pt x="2136" y="288613"/>
                    <a:pt x="0" y="283455"/>
                    <a:pt x="0" y="278077"/>
                  </a:cubicBezTo>
                  <a:lnTo>
                    <a:pt x="0" y="20277"/>
                  </a:lnTo>
                  <a:cubicBezTo>
                    <a:pt x="0" y="14899"/>
                    <a:pt x="2136" y="9742"/>
                    <a:pt x="5939" y="5939"/>
                  </a:cubicBezTo>
                  <a:cubicBezTo>
                    <a:pt x="9742" y="2136"/>
                    <a:pt x="14899" y="0"/>
                    <a:pt x="20277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0"/>
              <a:ext cx="4580233" cy="488855"/>
            </a:xfrm>
            <a:prstGeom prst="rect">
              <a:avLst/>
            </a:prstGeom>
          </p:spPr>
          <p:txBody>
            <a:bodyPr anchor="ctr" rtlCol="false" tIns="46842" lIns="46842" bIns="46842" rIns="46842"/>
            <a:lstStyle/>
            <a:p>
              <a:pPr algn="l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 spc="-124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INDICADORES OPERATIVOS Y DE RENDIMIENTO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75297" y="2879817"/>
            <a:ext cx="15191279" cy="4032699"/>
          </a:xfrm>
          <a:custGeom>
            <a:avLst/>
            <a:gdLst/>
            <a:ahLst/>
            <a:cxnLst/>
            <a:rect r="r" b="b" t="t" l="l"/>
            <a:pathLst>
              <a:path h="4032699" w="15191279">
                <a:moveTo>
                  <a:pt x="0" y="0"/>
                </a:moveTo>
                <a:lnTo>
                  <a:pt x="15191279" y="0"/>
                </a:lnTo>
                <a:lnTo>
                  <a:pt x="15191279" y="4032700"/>
                </a:lnTo>
                <a:lnTo>
                  <a:pt x="0" y="4032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99957" y="8860019"/>
            <a:ext cx="19487914" cy="6529736"/>
            <a:chOff x="0" y="0"/>
            <a:chExt cx="25983885" cy="87063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579398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947736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2137679">
            <a:off x="15341668" y="7582964"/>
            <a:ext cx="2563431" cy="2554109"/>
          </a:xfrm>
          <a:custGeom>
            <a:avLst/>
            <a:gdLst/>
            <a:ahLst/>
            <a:cxnLst/>
            <a:rect r="r" b="b" t="t" l="l"/>
            <a:pathLst>
              <a:path h="2554109" w="2563431">
                <a:moveTo>
                  <a:pt x="0" y="0"/>
                </a:moveTo>
                <a:lnTo>
                  <a:pt x="2563431" y="0"/>
                </a:lnTo>
                <a:lnTo>
                  <a:pt x="2563431" y="2554110"/>
                </a:lnTo>
                <a:lnTo>
                  <a:pt x="0" y="2554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3418" y="8722940"/>
            <a:ext cx="19487914" cy="6529736"/>
            <a:chOff x="0" y="0"/>
            <a:chExt cx="25983885" cy="8706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579398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947736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3512" y="257099"/>
            <a:ext cx="15328570" cy="1543201"/>
            <a:chOff x="0" y="0"/>
            <a:chExt cx="20438094" cy="20576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51931"/>
              <a:ext cx="20438094" cy="1705671"/>
              <a:chOff x="0" y="0"/>
              <a:chExt cx="3575016" cy="2983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75016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575016">
                    <a:moveTo>
                      <a:pt x="26176" y="0"/>
                    </a:moveTo>
                    <a:lnTo>
                      <a:pt x="3548840" y="0"/>
                    </a:lnTo>
                    <a:cubicBezTo>
                      <a:pt x="3563296" y="0"/>
                      <a:pt x="3575016" y="11719"/>
                      <a:pt x="3575016" y="26176"/>
                    </a:cubicBezTo>
                    <a:lnTo>
                      <a:pt x="3575016" y="272179"/>
                    </a:lnTo>
                    <a:cubicBezTo>
                      <a:pt x="3575016" y="279121"/>
                      <a:pt x="3572258" y="285779"/>
                      <a:pt x="3567349" y="290688"/>
                    </a:cubicBezTo>
                    <a:cubicBezTo>
                      <a:pt x="3562440" y="295597"/>
                      <a:pt x="3555783" y="298355"/>
                      <a:pt x="3548840" y="298355"/>
                    </a:cubicBezTo>
                    <a:lnTo>
                      <a:pt x="26176" y="298355"/>
                    </a:lnTo>
                    <a:cubicBezTo>
                      <a:pt x="19234" y="298355"/>
                      <a:pt x="12576" y="295597"/>
                      <a:pt x="7667" y="290688"/>
                    </a:cubicBezTo>
                    <a:cubicBezTo>
                      <a:pt x="2758" y="285779"/>
                      <a:pt x="0" y="279121"/>
                      <a:pt x="0" y="272179"/>
                    </a:cubicBezTo>
                    <a:lnTo>
                      <a:pt x="0" y="26176"/>
                    </a:lnTo>
                    <a:cubicBezTo>
                      <a:pt x="0" y="19234"/>
                      <a:pt x="2758" y="12576"/>
                      <a:pt x="7667" y="7667"/>
                    </a:cubicBezTo>
                    <a:cubicBezTo>
                      <a:pt x="12576" y="2758"/>
                      <a:pt x="19234" y="0"/>
                      <a:pt x="26176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76200"/>
                <a:ext cx="3575016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0438094" cy="1705671"/>
              <a:chOff x="0" y="0"/>
              <a:chExt cx="3575016" cy="29835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575016" cy="298355"/>
              </a:xfrm>
              <a:custGeom>
                <a:avLst/>
                <a:gdLst/>
                <a:ahLst/>
                <a:cxnLst/>
                <a:rect r="r" b="b" t="t" l="l"/>
                <a:pathLst>
                  <a:path h="298355" w="3575016">
                    <a:moveTo>
                      <a:pt x="26176" y="0"/>
                    </a:moveTo>
                    <a:lnTo>
                      <a:pt x="3548840" y="0"/>
                    </a:lnTo>
                    <a:cubicBezTo>
                      <a:pt x="3563296" y="0"/>
                      <a:pt x="3575016" y="11719"/>
                      <a:pt x="3575016" y="26176"/>
                    </a:cubicBezTo>
                    <a:lnTo>
                      <a:pt x="3575016" y="272179"/>
                    </a:lnTo>
                    <a:cubicBezTo>
                      <a:pt x="3575016" y="279121"/>
                      <a:pt x="3572258" y="285779"/>
                      <a:pt x="3567349" y="290688"/>
                    </a:cubicBezTo>
                    <a:cubicBezTo>
                      <a:pt x="3562440" y="295597"/>
                      <a:pt x="3555783" y="298355"/>
                      <a:pt x="3548840" y="298355"/>
                    </a:cubicBezTo>
                    <a:lnTo>
                      <a:pt x="26176" y="298355"/>
                    </a:lnTo>
                    <a:cubicBezTo>
                      <a:pt x="19234" y="298355"/>
                      <a:pt x="12576" y="295597"/>
                      <a:pt x="7667" y="290688"/>
                    </a:cubicBezTo>
                    <a:cubicBezTo>
                      <a:pt x="2758" y="285779"/>
                      <a:pt x="0" y="279121"/>
                      <a:pt x="0" y="272179"/>
                    </a:cubicBezTo>
                    <a:lnTo>
                      <a:pt x="0" y="26176"/>
                    </a:lnTo>
                    <a:cubicBezTo>
                      <a:pt x="0" y="19234"/>
                      <a:pt x="2758" y="12576"/>
                      <a:pt x="7667" y="7667"/>
                    </a:cubicBezTo>
                    <a:cubicBezTo>
                      <a:pt x="12576" y="2758"/>
                      <a:pt x="19234" y="0"/>
                      <a:pt x="26176" y="0"/>
                    </a:cubicBezTo>
                    <a:close/>
                  </a:path>
                </a:pathLst>
              </a:custGeom>
              <a:solidFill>
                <a:srgbClr val="00582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76200"/>
                <a:ext cx="3575016" cy="374555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535911" y="2782690"/>
            <a:ext cx="3230215" cy="2649594"/>
            <a:chOff x="0" y="0"/>
            <a:chExt cx="4306953" cy="353279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306953" cy="3532793"/>
              <a:chOff x="0" y="0"/>
              <a:chExt cx="922636" cy="7567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22637" cy="756796"/>
              </a:xfrm>
              <a:custGeom>
                <a:avLst/>
                <a:gdLst/>
                <a:ahLst/>
                <a:cxnLst/>
                <a:rect r="r" b="b" t="t" l="l"/>
                <a:pathLst>
                  <a:path h="756796" w="922637">
                    <a:moveTo>
                      <a:pt x="101425" y="0"/>
                    </a:moveTo>
                    <a:lnTo>
                      <a:pt x="821211" y="0"/>
                    </a:lnTo>
                    <a:cubicBezTo>
                      <a:pt x="877227" y="0"/>
                      <a:pt x="922637" y="45410"/>
                      <a:pt x="922637" y="101425"/>
                    </a:cubicBezTo>
                    <a:lnTo>
                      <a:pt x="922637" y="655370"/>
                    </a:lnTo>
                    <a:cubicBezTo>
                      <a:pt x="922637" y="711386"/>
                      <a:pt x="877227" y="756796"/>
                      <a:pt x="821211" y="756796"/>
                    </a:cubicBezTo>
                    <a:lnTo>
                      <a:pt x="101425" y="756796"/>
                    </a:lnTo>
                    <a:cubicBezTo>
                      <a:pt x="74526" y="756796"/>
                      <a:pt x="48728" y="746110"/>
                      <a:pt x="29707" y="727089"/>
                    </a:cubicBezTo>
                    <a:cubicBezTo>
                      <a:pt x="10686" y="708068"/>
                      <a:pt x="0" y="682270"/>
                      <a:pt x="0" y="655370"/>
                    </a:cubicBezTo>
                    <a:lnTo>
                      <a:pt x="0" y="101425"/>
                    </a:lnTo>
                    <a:cubicBezTo>
                      <a:pt x="0" y="45410"/>
                      <a:pt x="45410" y="0"/>
                      <a:pt x="101425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76200"/>
                <a:ext cx="922636" cy="832996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4306953" cy="3276227"/>
              <a:chOff x="0" y="0"/>
              <a:chExt cx="922636" cy="70183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22637" cy="701834"/>
              </a:xfrm>
              <a:custGeom>
                <a:avLst/>
                <a:gdLst/>
                <a:ahLst/>
                <a:cxnLst/>
                <a:rect r="r" b="b" t="t" l="l"/>
                <a:pathLst>
                  <a:path h="701834" w="922637">
                    <a:moveTo>
                      <a:pt x="101425" y="0"/>
                    </a:moveTo>
                    <a:lnTo>
                      <a:pt x="821211" y="0"/>
                    </a:lnTo>
                    <a:cubicBezTo>
                      <a:pt x="877227" y="0"/>
                      <a:pt x="922637" y="45410"/>
                      <a:pt x="922637" y="101425"/>
                    </a:cubicBezTo>
                    <a:lnTo>
                      <a:pt x="922637" y="600409"/>
                    </a:lnTo>
                    <a:cubicBezTo>
                      <a:pt x="922637" y="627308"/>
                      <a:pt x="911951" y="653106"/>
                      <a:pt x="892930" y="672127"/>
                    </a:cubicBezTo>
                    <a:cubicBezTo>
                      <a:pt x="873909" y="691148"/>
                      <a:pt x="848111" y="701834"/>
                      <a:pt x="821211" y="701834"/>
                    </a:cubicBezTo>
                    <a:lnTo>
                      <a:pt x="101425" y="701834"/>
                    </a:lnTo>
                    <a:cubicBezTo>
                      <a:pt x="45410" y="701834"/>
                      <a:pt x="0" y="656424"/>
                      <a:pt x="0" y="600409"/>
                    </a:cubicBezTo>
                    <a:lnTo>
                      <a:pt x="0" y="101425"/>
                    </a:lnTo>
                    <a:cubicBezTo>
                      <a:pt x="0" y="45410"/>
                      <a:pt x="45410" y="0"/>
                      <a:pt x="101425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0"/>
                <a:ext cx="922636" cy="892334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699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4416750" y="2823832"/>
            <a:ext cx="3259325" cy="2567310"/>
            <a:chOff x="0" y="0"/>
            <a:chExt cx="4345767" cy="342308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345767" cy="3423080"/>
              <a:chOff x="0" y="0"/>
              <a:chExt cx="930951" cy="7332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0951" cy="733293"/>
              </a:xfrm>
              <a:custGeom>
                <a:avLst/>
                <a:gdLst/>
                <a:ahLst/>
                <a:cxnLst/>
                <a:rect r="r" b="b" t="t" l="l"/>
                <a:pathLst>
                  <a:path h="733293" w="930951">
                    <a:moveTo>
                      <a:pt x="100519" y="0"/>
                    </a:moveTo>
                    <a:lnTo>
                      <a:pt x="830432" y="0"/>
                    </a:lnTo>
                    <a:cubicBezTo>
                      <a:pt x="885947" y="0"/>
                      <a:pt x="930951" y="45004"/>
                      <a:pt x="930951" y="100519"/>
                    </a:cubicBezTo>
                    <a:lnTo>
                      <a:pt x="930951" y="632774"/>
                    </a:lnTo>
                    <a:cubicBezTo>
                      <a:pt x="930951" y="659433"/>
                      <a:pt x="920361" y="685000"/>
                      <a:pt x="901510" y="703852"/>
                    </a:cubicBezTo>
                    <a:cubicBezTo>
                      <a:pt x="882659" y="722703"/>
                      <a:pt x="857091" y="733293"/>
                      <a:pt x="830432" y="733293"/>
                    </a:cubicBezTo>
                    <a:lnTo>
                      <a:pt x="100519" y="733293"/>
                    </a:lnTo>
                    <a:cubicBezTo>
                      <a:pt x="45004" y="733293"/>
                      <a:pt x="0" y="688289"/>
                      <a:pt x="0" y="632774"/>
                    </a:cubicBezTo>
                    <a:lnTo>
                      <a:pt x="0" y="100519"/>
                    </a:lnTo>
                    <a:cubicBezTo>
                      <a:pt x="0" y="45004"/>
                      <a:pt x="45004" y="0"/>
                      <a:pt x="100519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76200"/>
                <a:ext cx="930951" cy="809493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345767" cy="3184390"/>
              <a:chOff x="0" y="0"/>
              <a:chExt cx="930951" cy="68216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0951" cy="682161"/>
              </a:xfrm>
              <a:custGeom>
                <a:avLst/>
                <a:gdLst/>
                <a:ahLst/>
                <a:cxnLst/>
                <a:rect r="r" b="b" t="t" l="l"/>
                <a:pathLst>
                  <a:path h="682161" w="930951">
                    <a:moveTo>
                      <a:pt x="100519" y="0"/>
                    </a:moveTo>
                    <a:lnTo>
                      <a:pt x="830432" y="0"/>
                    </a:lnTo>
                    <a:cubicBezTo>
                      <a:pt x="885947" y="0"/>
                      <a:pt x="930951" y="45004"/>
                      <a:pt x="930951" y="100519"/>
                    </a:cubicBezTo>
                    <a:lnTo>
                      <a:pt x="930951" y="581641"/>
                    </a:lnTo>
                    <a:cubicBezTo>
                      <a:pt x="930951" y="608301"/>
                      <a:pt x="920361" y="633868"/>
                      <a:pt x="901510" y="652719"/>
                    </a:cubicBezTo>
                    <a:cubicBezTo>
                      <a:pt x="882659" y="671570"/>
                      <a:pt x="857091" y="682161"/>
                      <a:pt x="830432" y="682161"/>
                    </a:cubicBezTo>
                    <a:lnTo>
                      <a:pt x="100519" y="682161"/>
                    </a:lnTo>
                    <a:cubicBezTo>
                      <a:pt x="73860" y="682161"/>
                      <a:pt x="48293" y="671570"/>
                      <a:pt x="29441" y="652719"/>
                    </a:cubicBezTo>
                    <a:cubicBezTo>
                      <a:pt x="10590" y="633868"/>
                      <a:pt x="0" y="608301"/>
                      <a:pt x="0" y="581641"/>
                    </a:cubicBezTo>
                    <a:lnTo>
                      <a:pt x="0" y="100519"/>
                    </a:lnTo>
                    <a:cubicBezTo>
                      <a:pt x="0" y="45004"/>
                      <a:pt x="45004" y="0"/>
                      <a:pt x="100519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0"/>
                <a:ext cx="930951" cy="872661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699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8096946" y="2812040"/>
            <a:ext cx="3658842" cy="2579103"/>
            <a:chOff x="0" y="0"/>
            <a:chExt cx="4878456" cy="343880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878456" cy="3438804"/>
              <a:chOff x="0" y="0"/>
              <a:chExt cx="1045064" cy="7366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45064" cy="736661"/>
              </a:xfrm>
              <a:custGeom>
                <a:avLst/>
                <a:gdLst/>
                <a:ahLst/>
                <a:cxnLst/>
                <a:rect r="r" b="b" t="t" l="l"/>
                <a:pathLst>
                  <a:path h="736661" w="1045064">
                    <a:moveTo>
                      <a:pt x="89544" y="0"/>
                    </a:moveTo>
                    <a:lnTo>
                      <a:pt x="955520" y="0"/>
                    </a:lnTo>
                    <a:cubicBezTo>
                      <a:pt x="979269" y="0"/>
                      <a:pt x="1002044" y="9434"/>
                      <a:pt x="1018837" y="26227"/>
                    </a:cubicBezTo>
                    <a:cubicBezTo>
                      <a:pt x="1035630" y="43019"/>
                      <a:pt x="1045064" y="65795"/>
                      <a:pt x="1045064" y="89544"/>
                    </a:cubicBezTo>
                    <a:lnTo>
                      <a:pt x="1045064" y="647118"/>
                    </a:lnTo>
                    <a:cubicBezTo>
                      <a:pt x="1045064" y="670866"/>
                      <a:pt x="1035630" y="693642"/>
                      <a:pt x="1018837" y="710435"/>
                    </a:cubicBezTo>
                    <a:cubicBezTo>
                      <a:pt x="1002044" y="727227"/>
                      <a:pt x="979269" y="736661"/>
                      <a:pt x="955520" y="736661"/>
                    </a:cubicBezTo>
                    <a:lnTo>
                      <a:pt x="89544" y="736661"/>
                    </a:lnTo>
                    <a:cubicBezTo>
                      <a:pt x="65795" y="736661"/>
                      <a:pt x="43019" y="727227"/>
                      <a:pt x="26227" y="710435"/>
                    </a:cubicBezTo>
                    <a:cubicBezTo>
                      <a:pt x="9434" y="693642"/>
                      <a:pt x="0" y="670866"/>
                      <a:pt x="0" y="647118"/>
                    </a:cubicBezTo>
                    <a:lnTo>
                      <a:pt x="0" y="89544"/>
                    </a:lnTo>
                    <a:cubicBezTo>
                      <a:pt x="0" y="65795"/>
                      <a:pt x="9434" y="43019"/>
                      <a:pt x="26227" y="26227"/>
                    </a:cubicBezTo>
                    <a:cubicBezTo>
                      <a:pt x="43019" y="9434"/>
                      <a:pt x="65795" y="0"/>
                      <a:pt x="89544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76200"/>
                <a:ext cx="1045064" cy="812861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4878456" cy="3177580"/>
              <a:chOff x="0" y="0"/>
              <a:chExt cx="1045064" cy="68070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45064" cy="680702"/>
              </a:xfrm>
              <a:custGeom>
                <a:avLst/>
                <a:gdLst/>
                <a:ahLst/>
                <a:cxnLst/>
                <a:rect r="r" b="b" t="t" l="l"/>
                <a:pathLst>
                  <a:path h="680702" w="1045064">
                    <a:moveTo>
                      <a:pt x="89544" y="0"/>
                    </a:moveTo>
                    <a:lnTo>
                      <a:pt x="955520" y="0"/>
                    </a:lnTo>
                    <a:cubicBezTo>
                      <a:pt x="979269" y="0"/>
                      <a:pt x="1002044" y="9434"/>
                      <a:pt x="1018837" y="26227"/>
                    </a:cubicBezTo>
                    <a:cubicBezTo>
                      <a:pt x="1035630" y="43019"/>
                      <a:pt x="1045064" y="65795"/>
                      <a:pt x="1045064" y="89544"/>
                    </a:cubicBezTo>
                    <a:lnTo>
                      <a:pt x="1045064" y="591158"/>
                    </a:lnTo>
                    <a:cubicBezTo>
                      <a:pt x="1045064" y="614907"/>
                      <a:pt x="1035630" y="637683"/>
                      <a:pt x="1018837" y="654475"/>
                    </a:cubicBezTo>
                    <a:cubicBezTo>
                      <a:pt x="1002044" y="671268"/>
                      <a:pt x="979269" y="680702"/>
                      <a:pt x="955520" y="680702"/>
                    </a:cubicBezTo>
                    <a:lnTo>
                      <a:pt x="89544" y="680702"/>
                    </a:lnTo>
                    <a:cubicBezTo>
                      <a:pt x="65795" y="680702"/>
                      <a:pt x="43019" y="671268"/>
                      <a:pt x="26227" y="654475"/>
                    </a:cubicBezTo>
                    <a:cubicBezTo>
                      <a:pt x="9434" y="637683"/>
                      <a:pt x="0" y="614907"/>
                      <a:pt x="0" y="591158"/>
                    </a:cubicBezTo>
                    <a:lnTo>
                      <a:pt x="0" y="89544"/>
                    </a:lnTo>
                    <a:cubicBezTo>
                      <a:pt x="0" y="65795"/>
                      <a:pt x="9434" y="43019"/>
                      <a:pt x="26227" y="26227"/>
                    </a:cubicBezTo>
                    <a:cubicBezTo>
                      <a:pt x="43019" y="9434"/>
                      <a:pt x="65795" y="0"/>
                      <a:pt x="89544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0"/>
                <a:ext cx="1045064" cy="871202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699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289187" y="2812040"/>
            <a:ext cx="3882521" cy="2762566"/>
            <a:chOff x="0" y="0"/>
            <a:chExt cx="5176695" cy="3683422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5176695" cy="3683422"/>
              <a:chOff x="0" y="0"/>
              <a:chExt cx="1108953" cy="78906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108953" cy="789063"/>
              </a:xfrm>
              <a:custGeom>
                <a:avLst/>
                <a:gdLst/>
                <a:ahLst/>
                <a:cxnLst/>
                <a:rect r="r" b="b" t="t" l="l"/>
                <a:pathLst>
                  <a:path h="789063" w="1108953">
                    <a:moveTo>
                      <a:pt x="84385" y="0"/>
                    </a:moveTo>
                    <a:lnTo>
                      <a:pt x="1024568" y="0"/>
                    </a:lnTo>
                    <a:cubicBezTo>
                      <a:pt x="1046948" y="0"/>
                      <a:pt x="1068412" y="8891"/>
                      <a:pt x="1084237" y="24716"/>
                    </a:cubicBezTo>
                    <a:cubicBezTo>
                      <a:pt x="1100062" y="40541"/>
                      <a:pt x="1108953" y="62005"/>
                      <a:pt x="1108953" y="84385"/>
                    </a:cubicBezTo>
                    <a:lnTo>
                      <a:pt x="1108953" y="704679"/>
                    </a:lnTo>
                    <a:cubicBezTo>
                      <a:pt x="1108953" y="727059"/>
                      <a:pt x="1100062" y="748522"/>
                      <a:pt x="1084237" y="764348"/>
                    </a:cubicBezTo>
                    <a:cubicBezTo>
                      <a:pt x="1068412" y="780173"/>
                      <a:pt x="1046948" y="789063"/>
                      <a:pt x="1024568" y="789063"/>
                    </a:cubicBezTo>
                    <a:lnTo>
                      <a:pt x="84385" y="789063"/>
                    </a:lnTo>
                    <a:cubicBezTo>
                      <a:pt x="62005" y="789063"/>
                      <a:pt x="40541" y="780173"/>
                      <a:pt x="24716" y="764348"/>
                    </a:cubicBezTo>
                    <a:cubicBezTo>
                      <a:pt x="8891" y="748522"/>
                      <a:pt x="0" y="727059"/>
                      <a:pt x="0" y="704679"/>
                    </a:cubicBezTo>
                    <a:lnTo>
                      <a:pt x="0" y="84385"/>
                    </a:lnTo>
                    <a:cubicBezTo>
                      <a:pt x="0" y="62005"/>
                      <a:pt x="8891" y="40541"/>
                      <a:pt x="24716" y="24716"/>
                    </a:cubicBezTo>
                    <a:cubicBezTo>
                      <a:pt x="40541" y="8891"/>
                      <a:pt x="62005" y="0"/>
                      <a:pt x="84385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76200"/>
                <a:ext cx="1108953" cy="865263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5176695" cy="3403617"/>
              <a:chOff x="0" y="0"/>
              <a:chExt cx="1108953" cy="72912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08953" cy="729124"/>
              </a:xfrm>
              <a:custGeom>
                <a:avLst/>
                <a:gdLst/>
                <a:ahLst/>
                <a:cxnLst/>
                <a:rect r="r" b="b" t="t" l="l"/>
                <a:pathLst>
                  <a:path h="729124" w="1108953">
                    <a:moveTo>
                      <a:pt x="84385" y="0"/>
                    </a:moveTo>
                    <a:lnTo>
                      <a:pt x="1024568" y="0"/>
                    </a:lnTo>
                    <a:cubicBezTo>
                      <a:pt x="1046948" y="0"/>
                      <a:pt x="1068412" y="8891"/>
                      <a:pt x="1084237" y="24716"/>
                    </a:cubicBezTo>
                    <a:cubicBezTo>
                      <a:pt x="1100062" y="40541"/>
                      <a:pt x="1108953" y="62005"/>
                      <a:pt x="1108953" y="84385"/>
                    </a:cubicBezTo>
                    <a:lnTo>
                      <a:pt x="1108953" y="644739"/>
                    </a:lnTo>
                    <a:cubicBezTo>
                      <a:pt x="1108953" y="667119"/>
                      <a:pt x="1100062" y="688583"/>
                      <a:pt x="1084237" y="704408"/>
                    </a:cubicBezTo>
                    <a:cubicBezTo>
                      <a:pt x="1068412" y="720233"/>
                      <a:pt x="1046948" y="729124"/>
                      <a:pt x="1024568" y="729124"/>
                    </a:cubicBezTo>
                    <a:lnTo>
                      <a:pt x="84385" y="729124"/>
                    </a:lnTo>
                    <a:cubicBezTo>
                      <a:pt x="62005" y="729124"/>
                      <a:pt x="40541" y="720233"/>
                      <a:pt x="24716" y="704408"/>
                    </a:cubicBezTo>
                    <a:cubicBezTo>
                      <a:pt x="8891" y="688583"/>
                      <a:pt x="0" y="667119"/>
                      <a:pt x="0" y="644739"/>
                    </a:cubicBezTo>
                    <a:lnTo>
                      <a:pt x="0" y="84385"/>
                    </a:lnTo>
                    <a:cubicBezTo>
                      <a:pt x="0" y="62005"/>
                      <a:pt x="8891" y="40541"/>
                      <a:pt x="24716" y="24716"/>
                    </a:cubicBezTo>
                    <a:cubicBezTo>
                      <a:pt x="40541" y="8891"/>
                      <a:pt x="62005" y="0"/>
                      <a:pt x="84385" y="0"/>
                    </a:cubicBezTo>
                    <a:close/>
                  </a:path>
                </a:pathLst>
              </a:custGeom>
              <a:solidFill>
                <a:srgbClr val="007B42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0"/>
                <a:ext cx="1108953" cy="919623"/>
              </a:xfrm>
              <a:prstGeom prst="rect">
                <a:avLst/>
              </a:prstGeom>
            </p:spPr>
            <p:txBody>
              <a:bodyPr anchor="ctr" rtlCol="false" tIns="56452" lIns="56452" bIns="56452" rIns="56452"/>
              <a:lstStyle/>
              <a:p>
                <a:pPr algn="ctr">
                  <a:lnSpc>
                    <a:spcPts val="699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41" id="41"/>
          <p:cNvSpPr/>
          <p:nvPr/>
        </p:nvSpPr>
        <p:spPr>
          <a:xfrm flipH="false" flipV="false" rot="0">
            <a:off x="1430652" y="5561970"/>
            <a:ext cx="1440734" cy="1440734"/>
          </a:xfrm>
          <a:custGeom>
            <a:avLst/>
            <a:gdLst/>
            <a:ahLst/>
            <a:cxnLst/>
            <a:rect r="r" b="b" t="t" l="l"/>
            <a:pathLst>
              <a:path h="1440734" w="1440734">
                <a:moveTo>
                  <a:pt x="0" y="0"/>
                </a:moveTo>
                <a:lnTo>
                  <a:pt x="1440734" y="0"/>
                </a:lnTo>
                <a:lnTo>
                  <a:pt x="1440734" y="1440734"/>
                </a:lnTo>
                <a:lnTo>
                  <a:pt x="0" y="144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289095" y="5525019"/>
            <a:ext cx="1514635" cy="1514635"/>
          </a:xfrm>
          <a:custGeom>
            <a:avLst/>
            <a:gdLst/>
            <a:ahLst/>
            <a:cxnLst/>
            <a:rect r="r" b="b" t="t" l="l"/>
            <a:pathLst>
              <a:path h="1514635" w="1514635">
                <a:moveTo>
                  <a:pt x="0" y="0"/>
                </a:moveTo>
                <a:lnTo>
                  <a:pt x="1514636" y="0"/>
                </a:lnTo>
                <a:lnTo>
                  <a:pt x="1514636" y="1514636"/>
                </a:lnTo>
                <a:lnTo>
                  <a:pt x="0" y="1514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223081" y="5522219"/>
            <a:ext cx="1471601" cy="1471601"/>
          </a:xfrm>
          <a:custGeom>
            <a:avLst/>
            <a:gdLst/>
            <a:ahLst/>
            <a:cxnLst/>
            <a:rect r="r" b="b" t="t" l="l"/>
            <a:pathLst>
              <a:path h="1471601" w="1471601">
                <a:moveTo>
                  <a:pt x="0" y="0"/>
                </a:moveTo>
                <a:lnTo>
                  <a:pt x="1471601" y="0"/>
                </a:lnTo>
                <a:lnTo>
                  <a:pt x="1471601" y="1471601"/>
                </a:lnTo>
                <a:lnTo>
                  <a:pt x="0" y="1471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70356" y="386658"/>
            <a:ext cx="15001352" cy="164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8"/>
              </a:lnSpc>
            </a:pPr>
            <a:r>
              <a:rPr lang="en-US" sz="50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FLUJO DE INFORMACIÓN DEL SISTE</a:t>
            </a:r>
            <a:r>
              <a:rPr lang="en-US" sz="5062" b="true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MA BI</a:t>
            </a:r>
          </a:p>
          <a:p>
            <a:pPr algn="l">
              <a:lnSpc>
                <a:spcPts val="5268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66405" y="2982483"/>
            <a:ext cx="3969227" cy="83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1. FUENTES OLTP</a:t>
            </a:r>
          </a:p>
          <a:p>
            <a:pPr algn="ctr">
              <a:lnSpc>
                <a:spcPts val="3205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709508" y="3724655"/>
            <a:ext cx="2949390" cy="123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Ticketing, Planillas FPF, Transfermarkt, COMET.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342624" y="3106160"/>
            <a:ext cx="3407578" cy="203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2. ETL &amp; LIMPIEZA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Estandarización de datos de 18 sedes regionales.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07797" y="2982483"/>
            <a:ext cx="3437138" cy="203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3. DATA WAREHOUSE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Modelos dimensionales estrella para análisis rápido.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36812" y="2994895"/>
            <a:ext cx="3719120" cy="243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4. POWER BI / TABLEROS</a:t>
            </a:r>
          </a:p>
          <a:p>
            <a:pPr algn="ctr">
              <a:lnSpc>
                <a:spcPts val="3205"/>
              </a:lnSpc>
            </a:pPr>
          </a:p>
          <a:p>
            <a:pPr algn="ctr">
              <a:lnSpc>
                <a:spcPts val="3205"/>
              </a:lnSpc>
              <a:spcBef>
                <a:spcPct val="0"/>
              </a:spcBef>
            </a:pPr>
            <a:r>
              <a:rPr lang="en-US" sz="2289" spc="-57">
                <a:solidFill>
                  <a:srgbClr val="F6F857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Reportes ejecutivos para FPF y directivas de clubes.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3533325" y="5713559"/>
            <a:ext cx="1326095" cy="1326095"/>
          </a:xfrm>
          <a:custGeom>
            <a:avLst/>
            <a:gdLst/>
            <a:ahLst/>
            <a:cxnLst/>
            <a:rect r="r" b="b" t="t" l="l"/>
            <a:pathLst>
              <a:path h="1326095" w="1326095">
                <a:moveTo>
                  <a:pt x="0" y="0"/>
                </a:moveTo>
                <a:lnTo>
                  <a:pt x="1326095" y="0"/>
                </a:lnTo>
                <a:lnTo>
                  <a:pt x="1326095" y="1326096"/>
                </a:lnTo>
                <a:lnTo>
                  <a:pt x="0" y="1326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2137679">
            <a:off x="16586984" y="-434846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99957" y="8848972"/>
            <a:ext cx="19487914" cy="6529736"/>
            <a:chOff x="0" y="0"/>
            <a:chExt cx="25983885" cy="8706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79398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947736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4487" cy="8706315"/>
            </a:xfrm>
            <a:custGeom>
              <a:avLst/>
              <a:gdLst/>
              <a:ahLst/>
              <a:cxnLst/>
              <a:rect r="r" b="b" t="t" l="l"/>
              <a:pathLst>
                <a:path h="8706315" w="10404487">
                  <a:moveTo>
                    <a:pt x="0" y="0"/>
                  </a:moveTo>
                  <a:lnTo>
                    <a:pt x="10404487" y="0"/>
                  </a:lnTo>
                  <a:lnTo>
                    <a:pt x="10404487" y="8706315"/>
                  </a:lnTo>
                  <a:lnTo>
                    <a:pt x="0" y="8706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9014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183710" y="6402438"/>
            <a:ext cx="5223516" cy="5223516"/>
          </a:xfrm>
          <a:custGeom>
            <a:avLst/>
            <a:gdLst/>
            <a:ahLst/>
            <a:cxnLst/>
            <a:rect r="r" b="b" t="t" l="l"/>
            <a:pathLst>
              <a:path h="5223516" w="5223516">
                <a:moveTo>
                  <a:pt x="0" y="0"/>
                </a:moveTo>
                <a:lnTo>
                  <a:pt x="5223516" y="0"/>
                </a:lnTo>
                <a:lnTo>
                  <a:pt x="5223516" y="5223516"/>
                </a:lnTo>
                <a:lnTo>
                  <a:pt x="0" y="5223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17358" y="1735705"/>
            <a:ext cx="13831695" cy="612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53" indent="-231626" lvl="1">
              <a:lnSpc>
                <a:spcPts val="3003"/>
              </a:lnSpc>
              <a:buFont typeface="Arial"/>
              <a:buChar char="•"/>
            </a:pPr>
            <a:r>
              <a:rPr lang="en-US" b="true" sz="2145">
                <a:solidFill>
                  <a:srgbClr val="007B42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Integración y Calidad de Datos: Se logró consolidar y limpiar el 100% de los datos dispersos de la Liga 2 y Copa Perú mediante una capa de Staging y flujos ETL automatizados en SQL Server. </a:t>
            </a:r>
          </a:p>
          <a:p>
            <a:pPr algn="l">
              <a:lnSpc>
                <a:spcPts val="3003"/>
              </a:lnSpc>
            </a:pPr>
          </a:p>
          <a:p>
            <a:pPr algn="l" marL="463253" indent="-231626" lvl="1">
              <a:lnSpc>
                <a:spcPts val="3003"/>
              </a:lnSpc>
              <a:buFont typeface="Arial"/>
              <a:buChar char="•"/>
            </a:pPr>
            <a:r>
              <a:rPr lang="en-US" b="true" sz="2145">
                <a:solidFill>
                  <a:srgbClr val="007B42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Modelo Dimensional Optimizado: La arquitectura en estrella (5 dimensiones y la tabla Fact_VentasTaquilla) optimizó la estructura para consultas complejas y análisis semántico en Power BI. </a:t>
            </a:r>
          </a:p>
          <a:p>
            <a:pPr algn="l">
              <a:lnSpc>
                <a:spcPts val="3003"/>
              </a:lnSpc>
            </a:pPr>
          </a:p>
          <a:p>
            <a:pPr algn="l" marL="463253" indent="-231626" lvl="1">
              <a:lnSpc>
                <a:spcPts val="3003"/>
              </a:lnSpc>
              <a:buFont typeface="Arial"/>
              <a:buChar char="•"/>
            </a:pPr>
            <a:r>
              <a:rPr lang="en-US" b="true" sz="2145">
                <a:solidFill>
                  <a:srgbClr val="007B42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Automatización e Idempotencia: El procedimiento almacenado en T-SQL garantiza la repetibilidad de los procesos, previniendo duplicados y asegurando cargas limpias ante cualquier reintento. </a:t>
            </a:r>
          </a:p>
          <a:p>
            <a:pPr algn="l">
              <a:lnSpc>
                <a:spcPts val="3003"/>
              </a:lnSpc>
            </a:pPr>
          </a:p>
          <a:p>
            <a:pPr algn="l" marL="463253" indent="-231626" lvl="1">
              <a:lnSpc>
                <a:spcPts val="3003"/>
              </a:lnSpc>
              <a:buFont typeface="Arial"/>
              <a:buChar char="•"/>
            </a:pPr>
            <a:r>
              <a:rPr lang="en-US" b="true" sz="2145">
                <a:solidFill>
                  <a:srgbClr val="007B42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Toma de Decisiones Basada en Datos: La implementación de tableros interactivos permite evaluar en tiempo real la recaudación por taquilla, el aforo de los estadios y los indicadores deportivos. </a:t>
            </a:r>
          </a:p>
          <a:p>
            <a:pPr algn="ctr">
              <a:lnSpc>
                <a:spcPts val="3003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880774" y="389021"/>
            <a:ext cx="6526452" cy="1044560"/>
            <a:chOff x="0" y="0"/>
            <a:chExt cx="1864131" cy="2983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64131" cy="298355"/>
            </a:xfrm>
            <a:custGeom>
              <a:avLst/>
              <a:gdLst/>
              <a:ahLst/>
              <a:cxnLst/>
              <a:rect r="r" b="b" t="t" l="l"/>
              <a:pathLst>
                <a:path h="298355" w="1864131">
                  <a:moveTo>
                    <a:pt x="49822" y="0"/>
                  </a:moveTo>
                  <a:lnTo>
                    <a:pt x="1814309" y="0"/>
                  </a:lnTo>
                  <a:cubicBezTo>
                    <a:pt x="1827522" y="0"/>
                    <a:pt x="1840195" y="5249"/>
                    <a:pt x="1849538" y="14593"/>
                  </a:cubicBezTo>
                  <a:cubicBezTo>
                    <a:pt x="1858881" y="23936"/>
                    <a:pt x="1864131" y="36608"/>
                    <a:pt x="1864131" y="49822"/>
                  </a:cubicBezTo>
                  <a:lnTo>
                    <a:pt x="1864131" y="248533"/>
                  </a:lnTo>
                  <a:cubicBezTo>
                    <a:pt x="1864131" y="261746"/>
                    <a:pt x="1858881" y="274419"/>
                    <a:pt x="1849538" y="283762"/>
                  </a:cubicBezTo>
                  <a:cubicBezTo>
                    <a:pt x="1840195" y="293106"/>
                    <a:pt x="1827522" y="298355"/>
                    <a:pt x="1814309" y="298355"/>
                  </a:cubicBezTo>
                  <a:lnTo>
                    <a:pt x="49822" y="298355"/>
                  </a:lnTo>
                  <a:cubicBezTo>
                    <a:pt x="36608" y="298355"/>
                    <a:pt x="23936" y="293106"/>
                    <a:pt x="14593" y="283762"/>
                  </a:cubicBezTo>
                  <a:cubicBezTo>
                    <a:pt x="5249" y="274419"/>
                    <a:pt x="0" y="261746"/>
                    <a:pt x="0" y="248533"/>
                  </a:cubicBezTo>
                  <a:lnTo>
                    <a:pt x="0" y="49822"/>
                  </a:lnTo>
                  <a:cubicBezTo>
                    <a:pt x="0" y="36608"/>
                    <a:pt x="5249" y="23936"/>
                    <a:pt x="14593" y="14593"/>
                  </a:cubicBezTo>
                  <a:cubicBezTo>
                    <a:pt x="23936" y="5249"/>
                    <a:pt x="36608" y="0"/>
                    <a:pt x="49822" y="0"/>
                  </a:cubicBezTo>
                  <a:close/>
                </a:path>
              </a:pathLst>
            </a:custGeom>
            <a:solidFill>
              <a:srgbClr val="007B4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1864131" cy="488855"/>
            </a:xfrm>
            <a:prstGeom prst="rect">
              <a:avLst/>
            </a:prstGeom>
          </p:spPr>
          <p:txBody>
            <a:bodyPr anchor="ctr" rtlCol="false" tIns="46842" lIns="46842" bIns="46842" rIns="46842"/>
            <a:lstStyle/>
            <a:p>
              <a:pPr algn="ctr">
                <a:lnSpc>
                  <a:spcPts val="6999"/>
                </a:lnSpc>
                <a:spcBef>
                  <a:spcPct val="0"/>
                </a:spcBef>
              </a:pPr>
              <a:r>
                <a:rPr lang="en-US" b="true" sz="4999" spc="-124">
                  <a:solidFill>
                    <a:srgbClr val="F6F857"/>
                  </a:solidFill>
                  <a:latin typeface="Gill Sans Display Ultra-Bold"/>
                  <a:ea typeface="Gill Sans Display Ultra-Bold"/>
                  <a:cs typeface="Gill Sans Display Ultra-Bold"/>
                  <a:sym typeface="Gill Sans Display Ultra-Bold"/>
                </a:rPr>
                <a:t>CUNCLUSIONES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2137679">
            <a:off x="16586984" y="-434846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137679">
            <a:off x="-569699" y="-434846"/>
            <a:ext cx="2329129" cy="2320659"/>
          </a:xfrm>
          <a:custGeom>
            <a:avLst/>
            <a:gdLst/>
            <a:ahLst/>
            <a:cxnLst/>
            <a:rect r="r" b="b" t="t" l="l"/>
            <a:pathLst>
              <a:path h="2320659" w="2329129">
                <a:moveTo>
                  <a:pt x="0" y="0"/>
                </a:moveTo>
                <a:lnTo>
                  <a:pt x="2329129" y="0"/>
                </a:lnTo>
                <a:lnTo>
                  <a:pt x="2329129" y="2320660"/>
                </a:lnTo>
                <a:lnTo>
                  <a:pt x="0" y="2320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9918" y="0"/>
            <a:ext cx="18397918" cy="10287000"/>
          </a:xfrm>
          <a:custGeom>
            <a:avLst/>
            <a:gdLst/>
            <a:ahLst/>
            <a:cxnLst/>
            <a:rect r="r" b="b" t="t" l="l"/>
            <a:pathLst>
              <a:path h="10287000" w="18397918">
                <a:moveTo>
                  <a:pt x="0" y="0"/>
                </a:moveTo>
                <a:lnTo>
                  <a:pt x="18397918" y="0"/>
                </a:lnTo>
                <a:lnTo>
                  <a:pt x="183979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85" t="0" r="-331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79597" y="1787991"/>
            <a:ext cx="8952485" cy="8952485"/>
          </a:xfrm>
          <a:custGeom>
            <a:avLst/>
            <a:gdLst/>
            <a:ahLst/>
            <a:cxnLst/>
            <a:rect r="r" b="b" t="t" l="l"/>
            <a:pathLst>
              <a:path h="8952485" w="8952485">
                <a:moveTo>
                  <a:pt x="0" y="0"/>
                </a:moveTo>
                <a:lnTo>
                  <a:pt x="8952486" y="0"/>
                </a:lnTo>
                <a:lnTo>
                  <a:pt x="8952486" y="8952486"/>
                </a:lnTo>
                <a:lnTo>
                  <a:pt x="0" y="8952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3816" y="3097806"/>
            <a:ext cx="15424048" cy="38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4"/>
              </a:lnSpc>
              <a:spcBef>
                <a:spcPct val="0"/>
              </a:spcBef>
            </a:pPr>
            <a:r>
              <a:rPr lang="en-US" sz="10889">
                <a:solidFill>
                  <a:srgbClr val="FFFFFF"/>
                </a:solidFill>
                <a:latin typeface="Sports World"/>
                <a:ea typeface="Sports World"/>
                <a:cs typeface="Sports World"/>
                <a:sym typeface="Sports World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DAHOvwPa7sU</dc:identifier>
  <dcterms:modified xsi:type="dcterms:W3CDTF">2011-08-01T06:04:30Z</dcterms:modified>
  <cp:revision>1</cp:revision>
  <dc:title>Sistema de Gestión para un Club Deportivo de Fútbol</dc:title>
</cp:coreProperties>
</file>